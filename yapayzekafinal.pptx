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06" autoAdjust="0"/>
  </p:normalViewPr>
  <p:slideViewPr>
    <p:cSldViewPr snapToGrid="0">
      <p:cViewPr varScale="1">
        <p:scale>
          <a:sx n="70" d="100"/>
          <a:sy n="70" d="100"/>
        </p:scale>
        <p:origin x="113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8T07:38:41.845"/>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0 338,'1'20,"0"0,1-1,1 1,1 0,1-1,0 0,1 0,2-1,9 19,8 29,-20-50,0 0,2-1,0 0,10 17,2 8,-18-35,1 0,0 0,0 0,1 0,0-1,-1 1,1-1,1 1,-1-1,5 4,-7-8,-1 1,1 0,-1-1,1 0,0 1,-1-1,1 1,0-1,0 0,-1 0,1 1,0-1,0 0,-1 0,1 0,0 0,0 0,-1 0,1 0,0 0,0 0,0 0,-1 0,1 0,0-1,0 1,0-1,0 0,1 0,-1 0,0 0,0 0,0-1,0 1,0 0,0-1,-1 1,1-1,0 1,0-3,8-46,-9 23,-1 21,1 1,0-1,0 0,0 1,1-1,0 0,0 1,1-1,-1 1,1-1,4-7,-6 13,0 0,1 0,-1 0,0-1,1 1,-1 0,0 0,0 0,1 0,-1 0,0 0,1 0,-1 0,0 0,1 0,-1 0,0 1,1-1,-1 0,0 0,0 0,1 0,-1 0,0 0,1 1,-1-1,0 0,0 0,1 0,-1 1,0-1,0 0,0 0,0 1,1-1,-1 0,0 1,0-1,0 0,0 1,0-1,0 0,0 0,0 1,1-1,-1 1,8 19,-7-18,5 20,0 0,-1 0,2 27,9 42,-10-62,-5-16,2-1,6 23,-9-33,1 0,-1-1,1 1,-1 0,1-1,0 1,0-1,0 1,0-1,0 0,0 1,0-1,1 0,-1 0,0 0,1 0,-1 0,0 0,1 0,0 0,-1 0,1-1,-1 1,1-1,0 1,3 0,-3-2,0 1,1-1,-1 0,0 1,0-1,0 0,0 0,0-1,0 1,0 0,0-1,0 1,0-1,-1 1,1-1,0 0,-1 0,0 0,1 0,-1 0,0 0,1-4,21-54,-21 54,4-19,-1 0,-1 0,0-42,-2 34,7-44,-4 56,6-41,-10 57,0 0,-1 0,0-1,0 1,-1 0,1 0,-1-1,-2-7,2 12,1 1,0 0,-1-1,1 1,0-1,-1 1,1 0,-1-1,1 1,0 0,-1-1,1 1,-1 0,1-1,-1 1,1 0,-1 0,1 0,-1 0,0 0,1-1,-1 1,1 0,-1 0,1 0,-1 0,1 0,-1 1,1-1,-1 0,1 0,-1 0,0 0,1 1,-1-1,1 0,0 0,-1 1,1-1,-1 0,1 1,-1-1,0 1,-20 17,21-17,-113 135,74-86,-26 45,41-59,-28 36,-28 34,80-105,-1-1,1 0,-1 1,1-1,0 1,-1-1,1 1,0-1,-1 1,1-1,0 1,0-1,0 1,-1-1,1 1,0-1,0 1,0-1,0 1,0-1,0 1,0-1,0 1,0-1,0 1,0 0,0-1,1 1,-1-1,0 1,0-1,1 1,0 0,0 0,0 0,1 0,-1-1,0 1,1 0,-1-1,0 1,1-1,-1 0,0 1,3-1,52 0,-47 0,6 0,1-1,-1-1,1-1,-1 0,0-1,0 0,0-1,-1-1,0 0,0-1,0-1,21-15,-31 20,57-38,69-61,-58 43,-45 38,0-1,33-36,-45 42,1 1,27-20,10-10,-42 31,-11 13,0 1,0 0,0 0,0 0,0 0,0-1,0 1,0 0,0 0,0 0,0 0,0-1,0 1,0 0,0 0,-1 0,1 0,0 0,0 0,0-1,0 1,0 0,0 0,-1 0,1 0,0 0,0 0,0 0,0 0,0 0,-1 0,1-1,0 1,0 0,0 0,0 0,-1 0,1 0,0 0,0 0,0 0,0 0,-1 1,1-1,0 0,-30 10,-45 33,-117 92,190-134,-149 108,145-104,-1-1,0 1,0-1,-14 6,20-10,0 1,0-1,0 0,1 1,-1-1,0 0,0 0,0 0,0 0,0 0,1 0,-1 0,0 0,0 0,0-1,0 1,0 0,1 0,-1-1,0 1,0-1,0 0,0 0,0 0,0 0,1-1,-1 1,1 0,-1-1,1 1,0 0,-1-1,1 1,0-1,0 1,0 0,0-1,0 1,0-1,0 1,1 0,0-2,3-16,1 0,1 1,13-30,-11 30,0 1,-2-1,-1 0,5-24,-8 28,0 1,-1-1,-1 0,0 0,-4-22,4 32,-1 0,0 0,-1 0,1 0,-1 0,0 0,0 0,0 1,0-1,-1 1,1-1,-1 1,0 0,0 0,0 0,0 0,-1 1,1-1,-1 1,1 0,-1 0,-4-1,-10-4,-1 1,1 0,-1 2,0 0,-25-1,408 8,-189-5,565 2,-705-1,-1-2,1-2,-1 0,-1-3,39-13,-66 19,1-1,0 0,-1-1,0 0,1 0,-2 0,1-1,0 1,-1-1,6-7,-9 9,1 0,-1 0,0 0,0-1,0 1,0 0,0-1,-1 1,0-1,1 0,-1 1,-1-1,1 0,-1 0,1 1,-1-1,0 0,0 0,-1 0,1 1,-2-6,1 7,0-1,-1 1,1 0,-1-1,1 1,-1 0,0 0,0 0,0 0,0 0,0 1,-1-1,1 1,0-1,-1 1,1 0,-1 0,1 0,-1 0,0 0,1 1,-1-1,-3 1,-10-2,0 0,-30 3,31-1,-5 0,-21 0,0 1,0 2,1 2,-80 19,104-18,-19 4,1 2,0 1,1 2,-36 22,-157 94,170-101,44-25,0 1,1 0,-1 0,1 1,1 1,-1 0,1 0,-12 14,21-21,0 0,0 0,0 1,0-1,0 0,0 1,1-1,-1 1,0-1,1 1,-1-1,1 1,-1 0,1-1,0 1,0 0,0-1,0 1,0 0,0-1,0 1,1 1,0-1,0-1,0 1,0-1,0 1,0-1,0 0,1 1,-1-1,1 0,-1 0,1 0,-1 0,1 0,-1-1,1 1,3 1,6 1,1-1,-1 0,1 0,22 0,128 12,-17-1,270-13,-366-6,85-20,-25 3,34 4,-100 13,44-1,22-3,-106 9,0 1,0-1,0 1,0-1,0 0,0 0,0-1,5-2,-8 4,0 0,0 0,0 0,0 0,0 0,0-1,0 1,0 0,0 0,1 0,-1 0,0 0,0 0,0-1,0 1,0 0,0 0,0 0,0 0,0 0,0-1,0 1,0 0,0 0,0 0,0 0,0 0,0-1,0 1,0 0,-1 0,1 0,0 0,0 0,0 0,0-1,0 1,0 0,0 0,0 0,0 0,-1 0,1 0,0 0,0 0,0 0,0 0,0-1,-1 1,-17-4,-14 3,-1 1,1 1,0 2,0 2,-61 16,-45 6,28-7,-119 36,124-28,10-10,-15 4,108-22,1 0,-1 1,1-1,-1 1,1-1,-1 1,1 0,-1-1,1 1,0 0,-1 0,1 0,0 0,-1 0,1 0,0 0,0 1,0-1,-1 2,2-3,0 0,0 1,0-1,1 1,-1-1,0 0,0 1,0-1,0 1,0-1,0 0,0 1,1-1,-1 0,0 1,0-1,1 0,-1 1,0-1,0 0,1 0,-1 1,0-1,1 0,-1 0,1 1,21 5,155 15,307-5,-174-1,-26 1,65-1,6 0,-228-16,91 2,-184 7,-26-1,-9-6,1-1,-1 1,1 0,-1-1,0 1,1-1,-1 1,0-1,1 0,-1 1,0-1,1 0,-1 1,0-1,0 0,1 0,-1 0,0 0,-1 1,-30 4,0-2,-1 0,0-2,-38-4,-2 1,-388 19,96-4,17-2,-231 7,527-18,1261 0,-1636-18,-192 4,396 16,-505-2,787-4,-1-3,0-2,81-24,-67 15,285-58,-257 60,162-4,379-10,79 0,372 32,-2388-2,1000-15,45 0,74 16,-76-3,247 1,0 1,0-1,0 1,1-2,-1 1,0-1,-7-3,13 5,-1 0,1 0,0 0,0 0,0 0,-1 0,1 0,0 0,0-1,0 1,-1 0,1 0,0 0,0 0,0 0,0-1,0 1,-1 0,1 0,0 0,0-1,0 1,0 0,0 0,0 0,0-1,0 1,0 0,0 0,0-1,0 1,0 0,0 0,0-1,0 1,0 0,0 0,0 0,0-1,0 1,0 0,0 0,0 0,1-1,-1 1,0 0,0 0,0 0,0-1,0 1,1 0,-1 0,0 0,0 0,0 0,1 0,-1-1,0 1,0 0,0 0,1 0,-1 0,0 0,0 0,1 0,-1 0,0 0,0 0,21-6,-19 6,133-35,168-34,11 45,1 26,92-4,1269-23,-1283 25,-625 2,-355-5,98-25,-301-55,243 18,423 52,-160-11,251 19,27 0,19-3,11 3,1 1,-1 0,1 2,-1 1,27 2,53-3,432-25,4 28,-205 2,1618-3,-1927-1,8 0,1 2,-1 1,1 1,43 11,-71-10,-15 0,-16-1,-140 10,-77 4,-262 8,-1091 70,1245-80,-1592 5,1258-23,682 3,-26 0,20 0,16 0,10 0,34 1,0-2,0-3,81-16,87-33,324-36,1027-15,-688 101,-455 5,-476 21,21-14,0-1,-1-1,0-1,-43 3,-12 3,-249 71,96-21,156-44,0-4,-101 6,-107 18,158-17,57-10,-85 11,383-24,-113 3,-55-1,432-11,674-10,-783 23,-189-3,204 3,-367-2,-1 2,0 1,0 1,-1 1,30 9,-57-14,1 0,0 0,-1 1,1-1,0 0,-1 0,1 0,0 1,-1-1,1 0,0 1,-1-1,1 1,-1-1,1 1,-1-1,1 1,-1-1,1 1,-1-1,0 1,1-1,-1 1,0 0,1-1,-1 1,0 0,1 1,-2-1,0 0,1 0,-1-1,0 1,1 0,-1 0,0 0,0-1,1 1,-1 0,0-1,0 1,0-1,0 1,0-1,-2 1,-52 16,51-16,-39 7,-57 4,0 0,-24 8,-15 5,-201 8,53-19,-16 0,-463-12,438-3,400 1,0-3,103-18,329-42,110 56,-377 9,1497-2,-1206 36,-438-26,-25-4,1 3,65 17,-131-26,0 0,0 0,0 0,0 0,0 0,0 0,0 0,0 0,0 0,-1 0,1 0,0 0,0 0,0 0,0 0,0 0,0 1,0-1,0 0,0 0,-1 0,1 0,0 0,0 0,0 0,0 0,0 0,0 0,0 0,0 0,0 0,0 0,0 1,0-1,0 0,0 0,0 0,0 0,0 0,0 0,0 0,0 0,0 0,0 1,0-1,0 0,0 0,0 0,0 0,0 0,0 0,0 0,0 0,0 0,0 0,0 1,0-1,0 0,0 0,0 0,0 0,0 0,0 0,0 0,1 0,-17 6,-19 3,-145 10,67-9,-305 9,107-9,-884 10,807-22,-937 2,1698-18,-107-8,-47 7,302-12,3 32,-198 2,635-3,-996 2,-1 2,1 1,-48 14,-29 4,-265 11,-3-30,360-4,-297 13,89 0,-100 4,-131 2,97-21,829-18,-264-8,-71 7,142-3,178 11,267-3,56 17,-860 18,-669 66,-124-4,285-55,466-23,-149 11,-118 0,563-43,-109 18,70-22,-29 5,75-17,-53 11,219-29,46 12,66-6,-286 43,571-40,-543 50,162-15,-269 8,-164 15,71-3,-57 10,0 3,-90 33,-70 46,217-92,0 0,-1 1,1-1,0 1,-1 0,1 0,0 0,0 1,0-1,1 1,-1 0,1 0,-1 0,1 1,-4 5,6-8,1 0,0 0,0-1,0 1,0 0,0 0,0 0,0 0,0-1,0 1,0 0,1 0,-1-1,0 1,1 0,-1 0,0-1,1 1,-1 0,1-1,-1 1,1 0,-1-1,1 1,-1-1,1 1,0-1,-1 1,1-1,0 1,-1-1,1 0,0 1,0-1,-1 0,1 0,0 0,0 1,0-1,-1 0,2 0,38 5,-39-4,168-1,-84-2,-64 1,-1-2,36-7,19-3,-55 10,-1 0,1-2,-1 0,28-11,72-39,-84 37,-22 12,94-42,-106 47,0 1,0 0,0-1,0 1,0 0,0 0,0-1,0 1,0 0,0 0,1 0,-1 0,0 0,0 1,0-1,0 0,0 0,0 1,0-1,0 1,0-1,-1 0,1 1,0 0,1 0,-1 0,0 1,0 0,0-1,0 1,0-1,0 1,-1 0,1-1,-1 1,1 0,-1 0,0 0,0 2,1 5,-1 1,-1-1,0 0,-3 15,-3 6,2-13,0 2,2-1,0 0,1 1,1 25,1-40,1 0,-1-1,1 1,0 0,0 0,0-1,0 1,1-1,-1 1,1-1,0 0,0 1,1-1,-1 0,0 0,1 0,0-1,0 1,0-1,0 1,0-1,0 0,0 0,1-1,-1 1,1-1,0 1,-1-1,1 0,0-1,7 2,4-1,1 0,-1 0,1-2,-1 0,0-1,1 0,19-6,-14 5,-18 6,-11 4,7-7,1 0,-1 1,1-1,-1 0,1 1,-1-1,0 0,1 0,-1 0,1 0,-1 1,1-1,-1 0,0 0,1 0,-1 0,1 0,-1 0,0 0,1 0,-1-1,1 1,-1 0,0 0,1 0,-1-1,1 1,-1 0,1-1,-1 1,1 0,-1-2,-10-21,6-33,5 53,1-27,1 0,11-55,-7 52,5-67,-13-204,3 297,-1 1,-1-1,1 0,-1 0,0 1,-1-1,0 1,0-1,0 1,-6-10,6 12,0 1,-1 0,0 1,1-1,-1 0,0 1,0-1,0 1,-1 0,1 0,-1 0,1 1,-1-1,1 1,-1 0,0 0,0 0,0 1,-6-1,-21-4,1-2,-1-1,2-1,-45-19,55 20,0 2,-1 0,1 1,-1 1,0 1,-28-2,-106 7,60 1,30-4,36-1,0 2,-1 0,1 2,0 1,0 2,-44 12,-186 63,208-65,39-13,1 0,0 1,1 0,-1 1,1 0,-1 1,1 0,0 0,1 0,-13 12,20-17,1 1,-1-1,1 1,-1 0,1-1,-1 1,1 0,0-1,-1 1,1 0,0 0,-1-1,1 1,0 0,0 0,0 0,0-1,0 1,0 0,0 0,0 0,0 0,0-1,0 1,0 0,1 0,-1 0,0-1,0 1,1 0,-1-1,1 1,-1 0,1 0,-1-1,1 1,-1-1,1 1,0-1,-1 1,1-1,0 1,-1-1,1 1,0-1,-1 0,1 1,0-1,0 0,1 0,8 5,0-2,0 0,13 3,-10-3,33 10,8 4,1-2,1-3,98 9,227-23,-336-4,0-2,-1-2,-1-2,51-21,-63 22,1-5,-24 5,-9 11,1-1,0 1,0-1,-1 1,1-1,0 1,-1-1,1 1,-1-1,1 1,-1-1,1 1,-1 0,1-1,-1 1,1 0,-1-1,1 1,-1 0,0 0,1 0,-1-1,1 1,-2 0,-21-4,0 1,0 0,0 2,0 1,-29 3,-7 0,-239-4,-151 3,209 16,103-6,6 0,-89 5,-10-1,13 0,184-16,0 2,0 1,0 1,0 2,-56 18,88-23,0-1,0 0,0 1,0-1,0 0,-1 1,1 0,0-1,1 1,-1-1,0 1,0 0,0 0,0 0,0-1,-1 3,3-2,-1-1,0 0,0 1,1-1,-1 1,0-1,0 0,1 1,-1-1,0 0,1 1,-1-1,1 0,-1 0,0 1,1-1,-1 0,1 0,-1 0,1 1,-1-1,1 0,-1 0,1 0,-1 0,1 0,42 4,107 10,6 1,283-15,-202-1,-231 1,1 0,-1 1,1 0,-1 0,0 0,8 3,-13-4,0 1,-1-1,1 0,0 1,0-1,-1 1,1-1,0 1,0-1,-1 1,1 0,-1-1,1 1,0 0,-1-1,1 1,-1 0,0 0,1 0,-1-1,1 2,-1 0,0-1,-1 0,1 1,0-1,-1 1,1-1,0 0,-1 0,0 1,1-1,-1 0,0 0,1 0,-1 0,0 1,0-1,0 0,-2 1,-18 16,0-2,-1 0,-1-1,-40 19,-29 20,3-1,-179 77,181-91,4-6,-1-5,-142 29,52-14,116-28,-131 33,146-40,0-1,-67 0,12-9,-69 3,146 1,-36 10,38-7,-40 4,-294-6,182-5,89 3,-96-3,55-24,99 23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8T07:39:13.83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1 397,'250'2,"280"-4,-336-12,36-1,-59 12,257-13,-25-27,-377 40,-1-1,38-12,-66 14,-11-1,-19 1,-911 3,687-16,29 0,10 15,399-14,-40 0,112-5,-94 6,254-19,-251 19,136-4,-589 36,13 6,-29-1,128-12,-50-3,-65 6,-20 5,302-21,8 1,-1 0,1-1,-1 1,1 1,-1-1,1 1,-1-1,1 1,-1 1,1-1,0 1,-7 3,10-5,1 0,0 0,0 0,0 0,0 0,0 1,0-1,0 0,0 0,0 0,0 0,0 0,0 0,0 1,0-1,0 0,0 0,0 0,0 0,0 0,0 0,0 1,0-1,0 0,0 0,0 0,0 0,0 0,0 1,0-1,0 0,0 0,0 0,0 0,0 0,1 0,-1 0,0 0,0 1,0-1,0 0,0 0,0 0,0 0,1 0,-1 0,0 0,0 0,0 0,0 0,0 0,1 0,13 5,15-1,19-7,0-1,77-18,-66 11,66-5,34 11,62-5,-53-4,259 11,-381 10,-43-7,-1 1,0-1,0 1,0 0,0 0,0 0,0 0,0 0,0 0,0 0,0 1,0-1,-1 1,1-1,-1 1,1 0,1 2,-3-3,1 1,-1-1,0 0,0 0,0 0,0 0,0 0,0 0,0 0,0 0,0 0,0 0,-1 0,1 0,0 0,-1 0,1 0,-1 0,1 0,-1 0,1 0,-1 0,0 0,1-1,-1 1,0 0,0 0,0-1,-1 2,-30 17,29-18,-246 108,-82 5,62-54,238-54,-229 61,198-49,51-15,-25 7,1 1,0 1,-57 30,91-42,1 0,0 0,0 0,-1 0,1 0,0 0,0 0,-1 0,1 0,0 1,0-1,0 0,-1 0,1 0,0 0,0 0,0 1,-1-1,1 0,0 0,0 0,0 1,0-1,0 0,0 0,-1 0,1 1,0-1,0 0,0 0,0 1,0-1,0 0,0 0,0 1,0-1,0 0,0 0,0 1,0-1,0 0,0 0,0 1,1-1,-1 0,14 5,22-3,-36-2,739-1,-269-1,-422 1,-22 0,49 4,-75-3,1 0,-1 0,0 0,1 0,-1 0,1 0,-1 0,1 0,-1 0,1 0,-1 0,1 0,-1 1,0-1,1 0,-1 0,1 0,-1 1,1-1,-1 0,0 1,1-1,-1 0,0 1,0-1,1 0,-1 1,0-1,1 1,-1-1,0 0,0 2,-10 9,-24 9,19-15,0 0,0-1,0-1,0 0,0-1,-24 0,20-1,0 0,0 2,-34 8,9 4,7-2,0-1,0-2,-1-1,-43 3,38-9,0 2,1 2,0 2,-56 19,70-18,-1-1,-1-1,1-2,-54 4,500-13,-356 3,-525 0,435 2,0 0,-35 9,32-5,-51 4,53-10,15 0,1 0,-1 0,0 2,0-1,1 2,-1 0,-27 11,41-11,9-1,9 0,302-1,-150-3,-125 0,0-3,84-19,-83 14,0 2,74-5,-43 8,-1-3,92-23,80-10,-115 27,143-7,43 3,-308 17,480-60,-442 54,46-8,148-5,-217 18,-1 0,43-11,-11 2,-137 11,25-1,10-1,-58-10,-14-1,-113 8,-68-5,-103-11,77 5,-237 5,477 11,85 0,0 0,-1 0,1 0,0 0,0 0,0 0,0 0,0 0,0 0,0 0,0-1,0 1,0 0,0 0,0 0,0 0,-1 0,1 0,0 0,0 0,0-1,0 1,0 0,0 0,0 0,0 0,0 0,0 0,0 0,0 0,0-1,0 1,0 0,0 0,1 0,-1 0,0 0,0 0,0 0,0 0,0-1,0 1,0 0,0 0,0 0,0 0,0 0,0 0,1 0,-1 0,0 0,0 0,0 0,0 0,0 0,0 0,0 0,0 0,1 0,-1 0,0 0,0 0,0 0,0 0,0 0,0 0,0 0,1 0,14-11,20-10,1 5,2 1,0 1,1 3,51-9,-32 7,4-2,49-12,167-19,847-15,805 62,-2148 16,116-6,19-3,-308 18,204-26,-345 11,195 7,-351 25,235-5,402-35,33-2,1 0,-1 1,-31 7,48-9,1 0,0 0,-1 0,1 0,0 0,-1 0,1 0,-1 0,1 0,0 0,-1 0,1 1,0-1,-1 0,1 0,-1 0,1 0,0 1,0-1,-1 0,1 0,0 1,-1-1,1 0,0 0,0 1,-1-1,1 0,0 1,0-1,0 0,-1 1,1-1,0 1,0-1,0 0,0 1,0-1,0 0,0 1,0 0,17 6,29 0,393-5,-217-4,1231 2,-838 40,-526-32,-12-2,-28-3,-1 2,85 19,-207-12,-120 24,-237 13,261-37,-137 5,-24-1,-29 0,118-17,1211 1,-950-1,0 2,-1 0,0 1,1 0,-1 2,34 11,-51-15,-1 0,0 0,1 0,-1 0,0 0,1 0,-1 1,0-1,1 0,-1 0,0 0,0 0,1 1,-1-1,0 0,0 0,1 1,-1-1,0 0,0 1,0-1,1 0,-1 0,0 1,0-1,0 0,0 1,0-1,0 0,0 1,0-1,0 0,0 1,0-1,0 1,0-1,0 0,0 1,-13 9,-22 0,-207 51,-6 0,120-42,49-9,-145 38,205-38,19-10,0 0,0 0,0 0,0 1,0-1,0 0,0 0,0 0,0 0,0 1,0-1,0 0,0 0,0 0,0 1,0-1,1 0,-1 0,0 0,0 0,0 1,0-1,0 0,0 0,0 0,1 0,-1 0,0 1,0-1,0 0,0 0,1 0,-1 0,0 0,0 0,0 0,0 0,1 0,-1 0,0 0,0 0,0 0,1 0,-1 0,0 0,39 5,-35-5,362-3,-218-11,47-2,39 1,42 0,-176 17,131-4,-226 2,0 0,0-1,1 0,-1 0,0 0,0-1,0 0,-1 0,1 0,5-3,-10 5,0 0,0-1,1 1,-1 0,0 0,0 0,0-1,0 1,1 0,-1 0,0-1,0 1,0 0,0 0,0-1,0 1,0 0,0-1,0 1,0 0,0 0,0-1,0 1,0 0,0 0,0-1,0 1,0 0,0-1,0 1,0 0,0 0,-1-1,1 1,0 0,0-1,-12-8,-13-4,12 9,-123-33,101 28,1-1,0-2,1-2,-55-30,10 5,-158-81,131 65,-38-12,136 64,-1-1,1 1,0-2,1 1,-1-1,1 0,0 0,-9-10,13 13,1 0,-1 0,0 0,1 0,0 0,0-1,-1 1,1 0,1-1,-1 1,0-1,0 1,1-1,0 1,-1-1,1 0,0 1,0-1,1 1,-1-1,0 1,1-1,-1 1,1-1,0 1,0-1,0 1,0 0,1-1,1-2,5-5,1-1,0 1,1 1,0 0,1 0,0 1,0 0,1 1,-1 0,2 1,-1 0,15-4,19-4,-1 2,54-7,-79 16,173-28,-143 22,-149 6,-488 4,556-3,-1-2,1-1,-31-8,50 10,88-1,500 3,296 4,-535 11,94 2,-66-1,-52 0,33 12,-318-24,-159-4,52 3,-178 13,22 0,-617-14,398-3,222 18,30 0,255-17,251-12,582-7,-606 22,603 17,-555-11,41 2,-250-1,124 24,-242-33,0 0,1 0,-1 0,0 0,0 1,0-1,1 0,-1 0,0 1,0-1,0 1,0-1,0 1,1-1,-1 1,0 0,0 0,-1-1,1 1,2 2,-4-2,0 0,1-1,-1 1,0 0,0-1,0 1,0 0,0-1,0 1,0-1,0 1,0-1,0 0,0 1,0-1,0 0,-1 1,-59 10,-62 0,-204-8,168-6,-2068 3,2218 0,-1 0,1-1,-1 0,1-1,-12-3,20 5,0 0,0-1,-1 1,1-1,0 0,0 1,0-1,0 0,0 0,0 1,0-1,0 0,0 0,0 0,0 0,1 0,-1 0,0-1,0 0,1 0,0 1,0-1,0 0,0 1,0-1,0 1,1-1,-1 0,1 1,-1-1,1 1,-1-1,1 1,0 0,0-1,0 1,0 0,0-1,0 1,1-1,4-4,0 2,-1-1,2 1,-1-1,0 2,13-6,10-7,18-10,1 2,0 3,66-21,-21 9,-62 22,1 2,0 1,51-5,102 0,-51 5,267-26,-73 23,-279 11,-577 0,475 3,-77 13,52-5,11 1,44-7,0-1,-33 2,42-8,16-4,22-5,62-4,0 3,141 0,653 13,-867-2,1 2,-1-1,0 1,0 1,0 1,0 0,0 0,19 8,-31-10,0-1,0 1,0-1,0 1,0-1,0 1,0-1,-1 1,1 0,0-1,0 1,-1 0,1 0,0 0,-1-1,1 1,-1 0,1 0,-1 0,1 1,-1-1,0 0,-1-1,1 1,0 0,0-1,-1 1,1 0,0-1,-1 1,1-1,0 1,-1 0,1-1,-1 1,1-1,-1 1,1-1,-1 0,1 1,-1-1,0 1,0-1,-7 4,0 0,-1-1,-14 4,12-4,-6 3,-210 61,224-66,-28 8,30-9,0 0,0 1,0-1,0 0,0 1,0-1,0 1,0-1,0 1,0-1,0 1,0 0,0 0,0-1,0 1,1 0,-1 0,0 0,0 0,1 0,-1 1,1-1,1 0,-1-1,1 1,-1-1,1 1,-1 0,1-1,0 1,-1-1,1 0,0 1,0-1,-1 1,1-1,0 0,0 0,-1 1,1-1,0 0,0 0,0 0,0 0,0 0,26 2,-23-2,38-1,-1-2,1-2,-1-2,63-18,-91 21,45-11,-28 6,0 1,1 2,0 1,31-1,-1 2,0-3,106-27,-108 20,0 2,116-7,-122 16,69-12,-91 10,42-3,46-9,-74 9,1 3,0 2,85 5,-36 1,890-3,-959 1,0 2,37 7,-32-3,35 1,-61-8,-1 0,1 0,0 1,0 0,0 0,-1 0,1 1,-1-1,1 1,-1 0,1 0,-1 1,5 2,-7-2,1 0,-1 1,1-1,-1 0,0 1,0-1,-1 1,1-1,-1 1,1 0,-1 0,0 0,-1 0,1 0,-1-1,0 8,-1 192,-3-68,4-110,-1 0,-1 0,-1 0,-2 0,0-1,-1 0,-14 33,-2 4,13-34,-2-1,0 0,-27 45,36-68,-1 0,1 0,-1 0,0 0,0 0,0-1,-1 0,1 1,0-1,-1 0,0-1,1 1,-5 1,-54 9,16-4,0 1,-1-3,0-1,0-3,-71-6,15 2,-4282 2,4378 0,3 1,0-1,1 0,-1 0,0 0,0 0,0-1,1 0,-1 1,0-1,1-1,-1 1,1 0,-1-1,-3-2,6 3,1 1,0-1,0 0,0 1,0-1,0 1,0-1,0 1,0-1,0 0,0 1,1-1,-1 1,0-1,0 1,0-1,1 1,-1-1,0 1,1-1,-1 1,0-1,1 1,-1-1,1 1,-1 0,1-1,-1 1,1 0,-1-1,1 1,-1 0,1 0,-1-1,1 1,0 0,21-11,11-1,0 2,1 1,0 1,0 2,1 2,0 1,42 2,-30-2,1-1,79-19,-78 12,1 3,65-3,-60 11,26-1,116-14,-98 4,0 6,104 6,-62 2,1839-3,-1952-2,0-1,50-12,-31 5,6 0,-18 2,1 2,53-3,-48 9,0-3,69-11,59-11,-131 19,-1 1,50 1,-7 0,33-12,-44 4,-44 9,0-1,-1-1,46-16,-69 21,-1 0,1-1,-1 1,1 0,0 0,-1 0,1-1,-1 1,1 0,-1-1,1 1,-1 0,1-1,-1 1,1-1,-1 1,0 0,1-1,-1 1,0-1,1 1,-1-1,0 0,0 1,1-1,-1 1,0-1,0 1,0-1,0-1,0 1,-1 1,0-1,1 0,-1 0,0 0,0 0,1 1,-1-1,0 0,0 1,0-1,0 1,0-1,0 1,-1-1,-49-13,46 13,-204-34,183 32,-11-2,-92-13,-165-1,-1171 21,915-2,1301 0,-576-15,-26 0,14 13,121-8,145-28,173 24,-375 16,-172-2,66 1,-118 0,0-1,0 1,0 0,0 0,0 0,0 0,0 0,-1 0,1 1,0 0,-1-1,1 1,-1 0,0 0,1 0,-1 1,0-1,0 1,-1-1,1 1,0-1,-1 1,0 0,1 0,-1 0,0 0,0 0,-1 0,1 0,0 3,1 13,-1 0,-1-1,0 1,-3 18,1-4,0 2,-1 0,-13 61,9-68,3-8,0-1,-9 18,11-31,-1 0,0 0,-1 0,1 0,-1 0,0-1,-1 0,1 0,-9 8,-31 17,32-22,1 0,-1 0,-14 15,22-19,0 0,0 0,-1 0,1-1,-1 0,0 0,0 0,0 0,-8 2,-7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BC276-916E-4B0C-86AC-7CA6AC68277C}" type="datetimeFigureOut">
              <a:rPr lang="tr-TR" smtClean="0"/>
              <a:t>8.06.2026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3C998-DFD7-4F23-8697-62DE84B06CD3}" type="slidenum">
              <a:rPr lang="tr-TR" smtClean="0"/>
              <a:t>‹#›</a:t>
            </a:fld>
            <a:endParaRPr lang="tr-TR"/>
          </a:p>
        </p:txBody>
      </p:sp>
    </p:spTree>
    <p:extLst>
      <p:ext uri="{BB962C8B-B14F-4D97-AF65-F5344CB8AC3E}">
        <p14:creationId xmlns:p14="http://schemas.microsoft.com/office/powerpoint/2010/main" val="1436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Projeye başladığımda kullandığım </a:t>
            </a:r>
            <a:r>
              <a:rPr lang="tr-TR" dirty="0" err="1"/>
              <a:t>veriseti</a:t>
            </a:r>
            <a:r>
              <a:rPr lang="tr-TR" dirty="0"/>
              <a:t> 12 sınıflıydı ve sınıflardaki örnek sayıları eşit değildi, bu durumda modeli tembelliğe ve belli bir sınıfı güvenli liman belirleyip hep o sınıfı söylemesine neden oluyordu. Sınıf sayısını 6 ya indirdim, eğitim için kullanılacak verilerin sayısını birbirine yakın tutmaya çalıştım ve eğitimin sonucunda bunun daha iyi çalıştığına şahit oldum.</a:t>
            </a:r>
          </a:p>
        </p:txBody>
      </p:sp>
      <p:sp>
        <p:nvSpPr>
          <p:cNvPr id="4" name="Slayt Numarası Yer Tutucusu 3"/>
          <p:cNvSpPr>
            <a:spLocks noGrp="1"/>
          </p:cNvSpPr>
          <p:nvPr>
            <p:ph type="sldNum" sz="quarter" idx="5"/>
          </p:nvPr>
        </p:nvSpPr>
        <p:spPr/>
        <p:txBody>
          <a:bodyPr/>
          <a:lstStyle/>
          <a:p>
            <a:fld id="{5393C998-DFD7-4F23-8697-62DE84B06CD3}" type="slidenum">
              <a:rPr lang="tr-TR" smtClean="0"/>
              <a:t>6</a:t>
            </a:fld>
            <a:endParaRPr lang="tr-TR"/>
          </a:p>
        </p:txBody>
      </p:sp>
    </p:spTree>
    <p:extLst>
      <p:ext uri="{BB962C8B-B14F-4D97-AF65-F5344CB8AC3E}">
        <p14:creationId xmlns:p14="http://schemas.microsoft.com/office/powerpoint/2010/main" val="1208519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4FCA57-DD65-D0DD-E4C5-2D008680D9F3}"/>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F4461DF7-CED6-4F7C-F7A9-06B2D52E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E6FFF6B-5306-917A-3983-CB2F220D77EE}"/>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5" name="Alt Bilgi Yer Tutucusu 4">
            <a:extLst>
              <a:ext uri="{FF2B5EF4-FFF2-40B4-BE49-F238E27FC236}">
                <a16:creationId xmlns:a16="http://schemas.microsoft.com/office/drawing/2014/main" id="{5FAD66F4-346F-1168-4F52-D8100776B27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B3069AA-88AE-32B9-5A2C-BF50C3416C93}"/>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1410535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7EB576-B856-0A91-F9FC-25D990A825D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99A6242-10FA-B6B4-6DEB-D17072F4E0C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A074749-E84E-973A-91A3-379B17A52E2B}"/>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5" name="Alt Bilgi Yer Tutucusu 4">
            <a:extLst>
              <a:ext uri="{FF2B5EF4-FFF2-40B4-BE49-F238E27FC236}">
                <a16:creationId xmlns:a16="http://schemas.microsoft.com/office/drawing/2014/main" id="{89244858-7DD4-7935-6C40-273365E2AB4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874BD2C-4CC3-D1ED-AF0B-2DA025848D29}"/>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176763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636839-F993-ECC4-1FB8-870F3D39C2FD}"/>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9B1EFA82-B48A-1601-0870-C20206B966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5D5935AB-BCBC-77A3-7812-3C401AED3918}"/>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5" name="Alt Bilgi Yer Tutucusu 4">
            <a:extLst>
              <a:ext uri="{FF2B5EF4-FFF2-40B4-BE49-F238E27FC236}">
                <a16:creationId xmlns:a16="http://schemas.microsoft.com/office/drawing/2014/main" id="{4B93B4CD-1593-AA98-8793-1E962AAA86C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7069DBA-4F94-2FDD-C062-A5AED0CAAE26}"/>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1230891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62D3E6-8306-54F3-82FD-89524EF506C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BE5DC20D-50CC-C777-5009-60E9B1EA3B85}"/>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4940BD37-FACF-B25A-EBDF-51F750E397C0}"/>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CA30A2C-1DB3-5826-A45B-388717B9D1C5}"/>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6" name="Alt Bilgi Yer Tutucusu 5">
            <a:extLst>
              <a:ext uri="{FF2B5EF4-FFF2-40B4-BE49-F238E27FC236}">
                <a16:creationId xmlns:a16="http://schemas.microsoft.com/office/drawing/2014/main" id="{66F45799-3EE3-D471-3772-7BB7394895B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82D6282-95B9-97C7-2BAE-10CDC023A108}"/>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1495602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56FE13-E775-4D4D-7200-77C413CCBDF5}"/>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0749AB8-9039-938C-300C-1B9C50804A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2EF214AD-FECB-DDA1-F4E4-7ABD00F805BE}"/>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0583272E-AE7C-7C2F-74AE-ED5C2E5A9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C7910AFD-3911-4F00-E200-B1F404439FD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B72EB47B-E896-0710-EAE0-11741567C37A}"/>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8" name="Alt Bilgi Yer Tutucusu 7">
            <a:extLst>
              <a:ext uri="{FF2B5EF4-FFF2-40B4-BE49-F238E27FC236}">
                <a16:creationId xmlns:a16="http://schemas.microsoft.com/office/drawing/2014/main" id="{1F1544CE-A61C-3795-1C1A-18D2CBC7FCBF}"/>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691DF3C5-CFA1-63D9-2EDC-7DAF6ABD80EC}"/>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4136329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AF4D9C-684F-87DD-3624-C2F5DAAFDB51}"/>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1F2FC0CF-C612-F1CA-8F17-B38A0E8C2F0D}"/>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4" name="Alt Bilgi Yer Tutucusu 3">
            <a:extLst>
              <a:ext uri="{FF2B5EF4-FFF2-40B4-BE49-F238E27FC236}">
                <a16:creationId xmlns:a16="http://schemas.microsoft.com/office/drawing/2014/main" id="{3DC021D0-4AEB-5EDD-AC40-F1285750D22C}"/>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F954EF88-268E-ADC4-5C46-2643ACFE3F82}"/>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498175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331D9F1D-436C-DD7D-5DF2-3429C66DC60B}"/>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3" name="Alt Bilgi Yer Tutucusu 2">
            <a:extLst>
              <a:ext uri="{FF2B5EF4-FFF2-40B4-BE49-F238E27FC236}">
                <a16:creationId xmlns:a16="http://schemas.microsoft.com/office/drawing/2014/main" id="{C3357CD4-9B20-AF28-422A-BA7705A94763}"/>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DAD184ED-C614-0E18-5924-A82EB13B82B3}"/>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1233158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F82B32-C535-6CB3-0D11-358EDA4ECC24}"/>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B0181A1B-C30E-A857-4351-57543C363F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A6F7FF53-2504-FE4D-74D7-E0FED95E7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2112678-ABE3-AA62-6F10-170DF28DC01D}"/>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6" name="Alt Bilgi Yer Tutucusu 5">
            <a:extLst>
              <a:ext uri="{FF2B5EF4-FFF2-40B4-BE49-F238E27FC236}">
                <a16:creationId xmlns:a16="http://schemas.microsoft.com/office/drawing/2014/main" id="{B4230F30-6E62-7CE3-FDE2-FB2EBEB4187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64F23FC-AB64-45C1-AD75-793E999719C8}"/>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4147740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82AAC4-1163-6974-D87D-CFDB9485FC03}"/>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1726D9D6-08A0-DC2B-CB53-E4FA077F59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4825A74E-076C-0186-6FD0-918B0227F7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3FC777B-826C-70DB-F9D8-75127CECB63E}"/>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6" name="Alt Bilgi Yer Tutucusu 5">
            <a:extLst>
              <a:ext uri="{FF2B5EF4-FFF2-40B4-BE49-F238E27FC236}">
                <a16:creationId xmlns:a16="http://schemas.microsoft.com/office/drawing/2014/main" id="{31F89EE0-7DCC-34FE-1314-F4A8EAAA7BD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8DB1F74-87E5-FABA-886C-6D612A2B4F15}"/>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1726305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F84EF37-0E9D-D96F-D5ED-8D79DF7477F9}"/>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CE93EFEF-104B-AD03-41AC-942AD19E6AE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5F611B3-B48F-3E5B-4807-D68FF25D25B2}"/>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5" name="Alt Bilgi Yer Tutucusu 4">
            <a:extLst>
              <a:ext uri="{FF2B5EF4-FFF2-40B4-BE49-F238E27FC236}">
                <a16:creationId xmlns:a16="http://schemas.microsoft.com/office/drawing/2014/main" id="{D4B5C474-5690-CF4C-C015-36307F7F8BC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772683B-43BF-DE19-CD85-16921BD22B7A}"/>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3540572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A01822F9-968D-0493-AE06-EC0FD17E4928}"/>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746E039-D966-03C5-4EFC-0FC035934EF7}"/>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E91F4FB-06E2-B298-F2E4-BF346EA3914B}"/>
              </a:ext>
            </a:extLst>
          </p:cNvPr>
          <p:cNvSpPr>
            <a:spLocks noGrp="1"/>
          </p:cNvSpPr>
          <p:nvPr>
            <p:ph type="dt" sz="half" idx="10"/>
          </p:nvPr>
        </p:nvSpPr>
        <p:spPr/>
        <p:txBody>
          <a:bodyPr/>
          <a:lstStyle/>
          <a:p>
            <a:fld id="{F9F0C716-C157-49A9-83B7-2084886660EC}" type="datetimeFigureOut">
              <a:rPr lang="tr-TR" smtClean="0"/>
              <a:t>8.06.2026</a:t>
            </a:fld>
            <a:endParaRPr lang="tr-TR"/>
          </a:p>
        </p:txBody>
      </p:sp>
      <p:sp>
        <p:nvSpPr>
          <p:cNvPr id="5" name="Alt Bilgi Yer Tutucusu 4">
            <a:extLst>
              <a:ext uri="{FF2B5EF4-FFF2-40B4-BE49-F238E27FC236}">
                <a16:creationId xmlns:a16="http://schemas.microsoft.com/office/drawing/2014/main" id="{EA9D754C-ED7C-754B-C596-4AEBEA6269B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6BF977B-57BB-F6C5-E14C-0006E697223B}"/>
              </a:ext>
            </a:extLst>
          </p:cNvPr>
          <p:cNvSpPr>
            <a:spLocks noGrp="1"/>
          </p:cNvSpPr>
          <p:nvPr>
            <p:ph type="sldNum" sz="quarter" idx="12"/>
          </p:nvPr>
        </p:nvSpPr>
        <p:spPr/>
        <p:txBody>
          <a:bodyPr/>
          <a:lstStyle/>
          <a:p>
            <a:fld id="{D5F1257A-7667-4D97-BA3A-59205701F655}" type="slidenum">
              <a:rPr lang="tr-TR" smtClean="0"/>
              <a:t>‹#›</a:t>
            </a:fld>
            <a:endParaRPr lang="tr-TR"/>
          </a:p>
        </p:txBody>
      </p:sp>
    </p:spTree>
    <p:extLst>
      <p:ext uri="{BB962C8B-B14F-4D97-AF65-F5344CB8AC3E}">
        <p14:creationId xmlns:p14="http://schemas.microsoft.com/office/powerpoint/2010/main" val="3050834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FB3DB4D-6091-C0AF-900D-EBF222D50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FB1CD53-7FED-9E3C-805A-0420D96A5D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E6E00C4-BC25-3FBF-12D3-F1BBEEE8E0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F0C716-C157-49A9-83B7-2084886660EC}" type="datetimeFigureOut">
              <a:rPr lang="tr-TR" smtClean="0"/>
              <a:t>8.06.2026</a:t>
            </a:fld>
            <a:endParaRPr lang="tr-TR"/>
          </a:p>
        </p:txBody>
      </p:sp>
      <p:sp>
        <p:nvSpPr>
          <p:cNvPr id="5" name="Alt Bilgi Yer Tutucusu 4">
            <a:extLst>
              <a:ext uri="{FF2B5EF4-FFF2-40B4-BE49-F238E27FC236}">
                <a16:creationId xmlns:a16="http://schemas.microsoft.com/office/drawing/2014/main" id="{C7D47BE2-0764-74B3-47E5-4E461CA5B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29FFFA3F-BC40-640F-4163-4D1A8FC31C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F1257A-7667-4D97-BA3A-59205701F655}" type="slidenum">
              <a:rPr lang="tr-TR" smtClean="0"/>
              <a:t>‹#›</a:t>
            </a:fld>
            <a:endParaRPr lang="tr-TR"/>
          </a:p>
        </p:txBody>
      </p:sp>
    </p:spTree>
    <p:extLst>
      <p:ext uri="{BB962C8B-B14F-4D97-AF65-F5344CB8AC3E}">
        <p14:creationId xmlns:p14="http://schemas.microsoft.com/office/powerpoint/2010/main" val="4057114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1.xml"/><Relationship Id="rId4" Type="http://schemas.openxmlformats.org/officeDocument/2006/relationships/image" Target="../media/image14.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Resim 12">
            <a:extLst>
              <a:ext uri="{FF2B5EF4-FFF2-40B4-BE49-F238E27FC236}">
                <a16:creationId xmlns:a16="http://schemas.microsoft.com/office/drawing/2014/main" id="{7BF3DDF1-6E27-E52C-DFB8-1C6C41A035AF}"/>
              </a:ext>
            </a:extLst>
          </p:cNvPr>
          <p:cNvPicPr>
            <a:picLocks noChangeAspect="1"/>
          </p:cNvPicPr>
          <p:nvPr/>
        </p:nvPicPr>
        <p:blipFill>
          <a:blip r:embed="rId2">
            <a:alphaModFix amt="41000"/>
            <a:extLst>
              <a:ext uri="{BEBA8EAE-BF5A-486C-A8C5-ECC9F3942E4B}">
                <a14:imgProps xmlns:a14="http://schemas.microsoft.com/office/drawing/2010/main">
                  <a14:imgLayer r:embed="rId3">
                    <a14:imgEffect>
                      <a14:sharpenSoften amount="-100000"/>
                    </a14:imgEffect>
                    <a14:imgEffect>
                      <a14:brightnessContrast contrast="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a:effectLst>
            <a:glow>
              <a:schemeClr val="accent1">
                <a:alpha val="40000"/>
              </a:schemeClr>
            </a:glow>
          </a:effectLst>
        </p:spPr>
      </p:pic>
      <p:sp>
        <p:nvSpPr>
          <p:cNvPr id="4" name="Dikdörtgen 3">
            <a:extLst>
              <a:ext uri="{FF2B5EF4-FFF2-40B4-BE49-F238E27FC236}">
                <a16:creationId xmlns:a16="http://schemas.microsoft.com/office/drawing/2014/main" id="{1C357AB3-6F3F-29CD-A0F1-30D16CA8B38F}"/>
              </a:ext>
            </a:extLst>
          </p:cNvPr>
          <p:cNvSpPr/>
          <p:nvPr/>
        </p:nvSpPr>
        <p:spPr>
          <a:xfrm>
            <a:off x="2006579" y="263464"/>
            <a:ext cx="8178842"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tr-TR" sz="5400" b="1" cap="none" spc="0" dirty="0">
                <a:ln/>
                <a:solidFill>
                  <a:schemeClr val="accent3"/>
                </a:solidFill>
                <a:effectLst/>
              </a:rPr>
              <a:t>Atık Türü Sınıflandırma</a:t>
            </a:r>
            <a:r>
              <a:rPr lang="tr-TR" sz="4800" dirty="0">
                <a:solidFill>
                  <a:srgbClr val="00B050"/>
                </a:solidFill>
              </a:rPr>
              <a:t>♻️</a:t>
            </a:r>
            <a:endParaRPr lang="tr-TR" sz="4800" b="1" cap="none" spc="0" dirty="0">
              <a:ln/>
              <a:solidFill>
                <a:srgbClr val="00B050"/>
              </a:solidFill>
              <a:effectLst/>
            </a:endParaRPr>
          </a:p>
        </p:txBody>
      </p:sp>
      <p:sp>
        <p:nvSpPr>
          <p:cNvPr id="5" name="Metin kutusu 4">
            <a:extLst>
              <a:ext uri="{FF2B5EF4-FFF2-40B4-BE49-F238E27FC236}">
                <a16:creationId xmlns:a16="http://schemas.microsoft.com/office/drawing/2014/main" id="{07BEF554-091E-DADB-B39A-9BC0AECEB5FD}"/>
              </a:ext>
            </a:extLst>
          </p:cNvPr>
          <p:cNvSpPr txBox="1"/>
          <p:nvPr/>
        </p:nvSpPr>
        <p:spPr>
          <a:xfrm>
            <a:off x="786579" y="1375235"/>
            <a:ext cx="9252155" cy="1384995"/>
          </a:xfrm>
          <a:prstGeom prst="rect">
            <a:avLst/>
          </a:prstGeom>
          <a:noFill/>
        </p:spPr>
        <p:txBody>
          <a:bodyPr wrap="square" rtlCol="0">
            <a:spAutoFit/>
          </a:bodyPr>
          <a:lstStyle/>
          <a:p>
            <a:r>
              <a:rPr lang="tr-TR" sz="2800" b="1" dirty="0">
                <a:latin typeface="Times New Roman" panose="02020603050405020304" pitchFamily="18" charset="0"/>
                <a:cs typeface="Times New Roman" panose="02020603050405020304" pitchFamily="18" charset="0"/>
              </a:rPr>
              <a:t>Atık Türü Sınıflandırma projesinin elinden atıkları cam, plastik, karton, kağıt, metal ve çöp olarak ayrıştırmak geliyor.</a:t>
            </a:r>
          </a:p>
        </p:txBody>
      </p:sp>
      <p:sp>
        <p:nvSpPr>
          <p:cNvPr id="6" name="Metin kutusu 5">
            <a:extLst>
              <a:ext uri="{FF2B5EF4-FFF2-40B4-BE49-F238E27FC236}">
                <a16:creationId xmlns:a16="http://schemas.microsoft.com/office/drawing/2014/main" id="{3CC14FE4-D726-3BD1-0F60-E27E423D361E}"/>
              </a:ext>
            </a:extLst>
          </p:cNvPr>
          <p:cNvSpPr txBox="1"/>
          <p:nvPr/>
        </p:nvSpPr>
        <p:spPr>
          <a:xfrm>
            <a:off x="786579" y="2948671"/>
            <a:ext cx="9891251" cy="1384995"/>
          </a:xfrm>
          <a:prstGeom prst="rect">
            <a:avLst/>
          </a:prstGeom>
          <a:noFill/>
        </p:spPr>
        <p:txBody>
          <a:bodyPr wrap="square" rtlCol="0">
            <a:spAutoFit/>
          </a:bodyPr>
          <a:lstStyle/>
          <a:p>
            <a:r>
              <a:rPr lang="tr-TR" sz="2800" b="1" dirty="0">
                <a:latin typeface="Times New Roman" panose="02020603050405020304" pitchFamily="18" charset="0"/>
                <a:cs typeface="Times New Roman" panose="02020603050405020304" pitchFamily="18" charset="0"/>
              </a:rPr>
              <a:t>Ayrıştırma işleminin sonucunda ayrıştırılan materyaller uygun olduğu alanda toplanıp yeniden değerlendiriliyor ve ya imha ediliyor.</a:t>
            </a:r>
          </a:p>
        </p:txBody>
      </p:sp>
      <p:sp>
        <p:nvSpPr>
          <p:cNvPr id="7" name="Metin kutusu 6">
            <a:extLst>
              <a:ext uri="{FF2B5EF4-FFF2-40B4-BE49-F238E27FC236}">
                <a16:creationId xmlns:a16="http://schemas.microsoft.com/office/drawing/2014/main" id="{DAF620F5-FC68-F88D-F19E-4084D0E3622A}"/>
              </a:ext>
            </a:extLst>
          </p:cNvPr>
          <p:cNvSpPr txBox="1"/>
          <p:nvPr/>
        </p:nvSpPr>
        <p:spPr>
          <a:xfrm>
            <a:off x="786578" y="4500083"/>
            <a:ext cx="9891251" cy="1384995"/>
          </a:xfrm>
          <a:prstGeom prst="rect">
            <a:avLst/>
          </a:prstGeom>
          <a:noFill/>
        </p:spPr>
        <p:txBody>
          <a:bodyPr wrap="square" rtlCol="0">
            <a:spAutoFit/>
          </a:bodyPr>
          <a:lstStyle/>
          <a:p>
            <a:r>
              <a:rPr lang="tr-TR" sz="2800" b="1" dirty="0">
                <a:latin typeface="Times New Roman" panose="02020603050405020304" pitchFamily="18" charset="0"/>
                <a:cs typeface="Times New Roman" panose="02020603050405020304" pitchFamily="18" charset="0"/>
              </a:rPr>
              <a:t>Bu tür bir sınıflandırma çeşitli alanlarda insanlara kolaylık sağlamaktadır, bunlara birlikte bakalım ve proje nasıl çalışıyor öğrenelim.</a:t>
            </a:r>
          </a:p>
        </p:txBody>
      </p:sp>
    </p:spTree>
    <p:extLst>
      <p:ext uri="{BB962C8B-B14F-4D97-AF65-F5344CB8AC3E}">
        <p14:creationId xmlns:p14="http://schemas.microsoft.com/office/powerpoint/2010/main" val="8408439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9FC6AC-4A12-4825-8ABE-0732B8EF4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a:extLst>
              <a:ext uri="{FF2B5EF4-FFF2-40B4-BE49-F238E27FC236}">
                <a16:creationId xmlns:a16="http://schemas.microsoft.com/office/drawing/2014/main" id="{FBF05DE1-A327-70D9-028F-F2994DABD2DD}"/>
              </a:ext>
            </a:extLst>
          </p:cNvPr>
          <p:cNvPicPr>
            <a:picLocks noChangeAspect="1"/>
          </p:cNvPicPr>
          <p:nvPr/>
        </p:nvPicPr>
        <p:blipFill>
          <a:blip r:embed="rId2"/>
          <a:srcRect r="1" b="3245"/>
          <a:stretch>
            <a:fillRect/>
          </a:stretch>
        </p:blipFill>
        <p:spPr>
          <a:xfrm>
            <a:off x="6007511" y="0"/>
            <a:ext cx="6341805" cy="3666290"/>
          </a:xfrm>
          <a:custGeom>
            <a:avLst/>
            <a:gdLst/>
            <a:ahLst/>
            <a:cxnLst/>
            <a:rect l="l" t="t" r="r" b="b"/>
            <a:pathLst>
              <a:path w="11862683" h="6858000">
                <a:moveTo>
                  <a:pt x="0" y="0"/>
                </a:moveTo>
                <a:lnTo>
                  <a:pt x="4038600" y="0"/>
                </a:lnTo>
                <a:lnTo>
                  <a:pt x="4114800" y="0"/>
                </a:lnTo>
                <a:lnTo>
                  <a:pt x="4282294" y="0"/>
                </a:lnTo>
                <a:lnTo>
                  <a:pt x="6139260" y="0"/>
                </a:lnTo>
                <a:lnTo>
                  <a:pt x="6362810" y="0"/>
                </a:lnTo>
                <a:lnTo>
                  <a:pt x="7272221" y="0"/>
                </a:lnTo>
                <a:lnTo>
                  <a:pt x="10815342" y="0"/>
                </a:lnTo>
                <a:cubicBezTo>
                  <a:pt x="10709672" y="35571"/>
                  <a:pt x="10607020" y="78255"/>
                  <a:pt x="10501350" y="110269"/>
                </a:cubicBezTo>
                <a:cubicBezTo>
                  <a:pt x="10516447" y="145839"/>
                  <a:pt x="10531542" y="138725"/>
                  <a:pt x="10546639" y="135168"/>
                </a:cubicBezTo>
                <a:cubicBezTo>
                  <a:pt x="10637212" y="120941"/>
                  <a:pt x="10730806" y="110269"/>
                  <a:pt x="10818360" y="71141"/>
                </a:cubicBezTo>
                <a:cubicBezTo>
                  <a:pt x="10839496" y="64027"/>
                  <a:pt x="10863648" y="64027"/>
                  <a:pt x="10872705" y="88927"/>
                </a:cubicBezTo>
                <a:cubicBezTo>
                  <a:pt x="10887801" y="124497"/>
                  <a:pt x="10866668" y="145839"/>
                  <a:pt x="10845532" y="163625"/>
                </a:cubicBezTo>
                <a:cubicBezTo>
                  <a:pt x="10809304" y="195638"/>
                  <a:pt x="10767036" y="188525"/>
                  <a:pt x="10727787" y="192082"/>
                </a:cubicBezTo>
                <a:cubicBezTo>
                  <a:pt x="10619098" y="209867"/>
                  <a:pt x="10567772" y="259665"/>
                  <a:pt x="10543619" y="373491"/>
                </a:cubicBezTo>
                <a:cubicBezTo>
                  <a:pt x="10637212" y="327250"/>
                  <a:pt x="10730806" y="384162"/>
                  <a:pt x="10821380" y="352148"/>
                </a:cubicBezTo>
                <a:cubicBezTo>
                  <a:pt x="10845532" y="345034"/>
                  <a:pt x="10881763" y="355706"/>
                  <a:pt x="10869686" y="394834"/>
                </a:cubicBezTo>
                <a:cubicBezTo>
                  <a:pt x="10857610" y="430405"/>
                  <a:pt x="10818360" y="458860"/>
                  <a:pt x="10887801" y="451747"/>
                </a:cubicBezTo>
                <a:cubicBezTo>
                  <a:pt x="10939127" y="448189"/>
                  <a:pt x="10954222" y="405504"/>
                  <a:pt x="10969318" y="359262"/>
                </a:cubicBezTo>
                <a:cubicBezTo>
                  <a:pt x="10981394" y="334364"/>
                  <a:pt x="11014605" y="320135"/>
                  <a:pt x="11038758" y="334364"/>
                </a:cubicBezTo>
                <a:cubicBezTo>
                  <a:pt x="11068949" y="348592"/>
                  <a:pt x="11059892" y="387720"/>
                  <a:pt x="11059892" y="416176"/>
                </a:cubicBezTo>
                <a:cubicBezTo>
                  <a:pt x="11062912" y="469532"/>
                  <a:pt x="11038758" y="494431"/>
                  <a:pt x="10996491" y="505101"/>
                </a:cubicBezTo>
                <a:cubicBezTo>
                  <a:pt x="10945164" y="519330"/>
                  <a:pt x="10893840" y="537116"/>
                  <a:pt x="10827418" y="558458"/>
                </a:cubicBezTo>
                <a:cubicBezTo>
                  <a:pt x="10899878" y="594028"/>
                  <a:pt x="10954222" y="586915"/>
                  <a:pt x="11008566" y="558458"/>
                </a:cubicBezTo>
                <a:cubicBezTo>
                  <a:pt x="11074988" y="526444"/>
                  <a:pt x="11162542" y="483759"/>
                  <a:pt x="11216886" y="522887"/>
                </a:cubicBezTo>
                <a:cubicBezTo>
                  <a:pt x="11298403" y="579800"/>
                  <a:pt x="11364824" y="544229"/>
                  <a:pt x="11437284" y="533558"/>
                </a:cubicBezTo>
                <a:cubicBezTo>
                  <a:pt x="11588242" y="512216"/>
                  <a:pt x="11494648" y="480203"/>
                  <a:pt x="11645605" y="462417"/>
                </a:cubicBezTo>
                <a:cubicBezTo>
                  <a:pt x="11705988" y="455303"/>
                  <a:pt x="11769390" y="426847"/>
                  <a:pt x="11856944" y="465975"/>
                </a:cubicBezTo>
                <a:cubicBezTo>
                  <a:pt x="11461437" y="672284"/>
                  <a:pt x="11274250" y="658055"/>
                  <a:pt x="10921012" y="910606"/>
                </a:cubicBezTo>
                <a:cubicBezTo>
                  <a:pt x="10936107" y="935506"/>
                  <a:pt x="10951202" y="924835"/>
                  <a:pt x="10966299" y="921277"/>
                </a:cubicBezTo>
                <a:cubicBezTo>
                  <a:pt x="10990452" y="917720"/>
                  <a:pt x="11020644" y="903491"/>
                  <a:pt x="11026682" y="949734"/>
                </a:cubicBezTo>
                <a:cubicBezTo>
                  <a:pt x="11029702" y="985305"/>
                  <a:pt x="11011585" y="1003089"/>
                  <a:pt x="10981394" y="1006647"/>
                </a:cubicBezTo>
                <a:cubicBezTo>
                  <a:pt x="10893840" y="1020875"/>
                  <a:pt x="10815342" y="1070674"/>
                  <a:pt x="10736844" y="1113358"/>
                </a:cubicBezTo>
                <a:cubicBezTo>
                  <a:pt x="10700615" y="1131144"/>
                  <a:pt x="10661366" y="1156043"/>
                  <a:pt x="10676462" y="1220069"/>
                </a:cubicBezTo>
                <a:cubicBezTo>
                  <a:pt x="10706652" y="1237855"/>
                  <a:pt x="10727787" y="1212955"/>
                  <a:pt x="10751940" y="1209399"/>
                </a:cubicBezTo>
                <a:cubicBezTo>
                  <a:pt x="10776093" y="1205842"/>
                  <a:pt x="10833457" y="1220069"/>
                  <a:pt x="10818360" y="1230741"/>
                </a:cubicBezTo>
                <a:cubicBezTo>
                  <a:pt x="10748920" y="1269868"/>
                  <a:pt x="10875724" y="1365909"/>
                  <a:pt x="10791190" y="1365909"/>
                </a:cubicBezTo>
                <a:cubicBezTo>
                  <a:pt x="10652309" y="1365909"/>
                  <a:pt x="10576830" y="1536647"/>
                  <a:pt x="10443988" y="1540204"/>
                </a:cubicBezTo>
                <a:cubicBezTo>
                  <a:pt x="10422854" y="1540204"/>
                  <a:pt x="10413797" y="1572219"/>
                  <a:pt x="10413797" y="1597117"/>
                </a:cubicBezTo>
                <a:cubicBezTo>
                  <a:pt x="10413797" y="1629132"/>
                  <a:pt x="10434930" y="1632688"/>
                  <a:pt x="10456064" y="1636245"/>
                </a:cubicBezTo>
                <a:cubicBezTo>
                  <a:pt x="10489275" y="1639802"/>
                  <a:pt x="10525504" y="1597117"/>
                  <a:pt x="10567772" y="1657587"/>
                </a:cubicBezTo>
                <a:cubicBezTo>
                  <a:pt x="10489275" y="1693158"/>
                  <a:pt x="10407758" y="1728729"/>
                  <a:pt x="10410777" y="1849668"/>
                </a:cubicBezTo>
                <a:cubicBezTo>
                  <a:pt x="10410777" y="1881683"/>
                  <a:pt x="10377566" y="1895910"/>
                  <a:pt x="10353413" y="1903025"/>
                </a:cubicBezTo>
                <a:cubicBezTo>
                  <a:pt x="10311146" y="1917252"/>
                  <a:pt x="10277935" y="1938595"/>
                  <a:pt x="10253782" y="1984836"/>
                </a:cubicBezTo>
                <a:cubicBezTo>
                  <a:pt x="10253782" y="1995507"/>
                  <a:pt x="10253782" y="2002622"/>
                  <a:pt x="10253782" y="2013292"/>
                </a:cubicBezTo>
                <a:cubicBezTo>
                  <a:pt x="10259820" y="2123562"/>
                  <a:pt x="10320202" y="2120004"/>
                  <a:pt x="10386624" y="2102219"/>
                </a:cubicBezTo>
                <a:cubicBezTo>
                  <a:pt x="10465122" y="2080877"/>
                  <a:pt x="10543619" y="2038192"/>
                  <a:pt x="10628156" y="2077320"/>
                </a:cubicBezTo>
                <a:cubicBezTo>
                  <a:pt x="10510408" y="2130676"/>
                  <a:pt x="10380586" y="2134233"/>
                  <a:pt x="10271896" y="2208931"/>
                </a:cubicBezTo>
                <a:cubicBezTo>
                  <a:pt x="10676462" y="2223159"/>
                  <a:pt x="11032720" y="1984836"/>
                  <a:pt x="11425208" y="1892353"/>
                </a:cubicBezTo>
                <a:cubicBezTo>
                  <a:pt x="11413131" y="1952823"/>
                  <a:pt x="11379920" y="1967051"/>
                  <a:pt x="11352748" y="1974165"/>
                </a:cubicBezTo>
                <a:cubicBezTo>
                  <a:pt x="11207830" y="2020407"/>
                  <a:pt x="11081026" y="2112891"/>
                  <a:pt x="10948184" y="2191146"/>
                </a:cubicBezTo>
                <a:cubicBezTo>
                  <a:pt x="10893840" y="2223159"/>
                  <a:pt x="10854590" y="2258731"/>
                  <a:pt x="10833457" y="2326314"/>
                </a:cubicBezTo>
                <a:cubicBezTo>
                  <a:pt x="10815342" y="2390340"/>
                  <a:pt x="10779112" y="2418796"/>
                  <a:pt x="10712690" y="2401012"/>
                </a:cubicBezTo>
                <a:cubicBezTo>
                  <a:pt x="10658346" y="2386784"/>
                  <a:pt x="10600982" y="2393898"/>
                  <a:pt x="10543619" y="2401012"/>
                </a:cubicBezTo>
                <a:cubicBezTo>
                  <a:pt x="10480218" y="2408126"/>
                  <a:pt x="10407758" y="2479267"/>
                  <a:pt x="10422854" y="2518395"/>
                </a:cubicBezTo>
                <a:cubicBezTo>
                  <a:pt x="10453044" y="2582422"/>
                  <a:pt x="10504370" y="2550408"/>
                  <a:pt x="10546639" y="2543294"/>
                </a:cubicBezTo>
                <a:cubicBezTo>
                  <a:pt x="10597964" y="2536181"/>
                  <a:pt x="10691556" y="2518395"/>
                  <a:pt x="10691556" y="2525509"/>
                </a:cubicBezTo>
                <a:cubicBezTo>
                  <a:pt x="10724768" y="2685576"/>
                  <a:pt x="10800246" y="2564636"/>
                  <a:pt x="10854590" y="2564636"/>
                </a:cubicBezTo>
                <a:cubicBezTo>
                  <a:pt x="10905916" y="2564636"/>
                  <a:pt x="10957241" y="2546851"/>
                  <a:pt x="11005548" y="2532623"/>
                </a:cubicBezTo>
                <a:cubicBezTo>
                  <a:pt x="11068949" y="2514837"/>
                  <a:pt x="11126312" y="2546851"/>
                  <a:pt x="11186696" y="2553965"/>
                </a:cubicBezTo>
                <a:cubicBezTo>
                  <a:pt x="11241040" y="2561080"/>
                  <a:pt x="11210850" y="2653563"/>
                  <a:pt x="11244060" y="2692689"/>
                </a:cubicBezTo>
                <a:cubicBezTo>
                  <a:pt x="11250097" y="2703362"/>
                  <a:pt x="11256136" y="2703362"/>
                  <a:pt x="11262174" y="2703362"/>
                </a:cubicBezTo>
                <a:cubicBezTo>
                  <a:pt x="11280289" y="2980812"/>
                  <a:pt x="11597299" y="2913227"/>
                  <a:pt x="11597299" y="2923898"/>
                </a:cubicBezTo>
                <a:cubicBezTo>
                  <a:pt x="11624471" y="2941684"/>
                  <a:pt x="11657682" y="2899000"/>
                  <a:pt x="11690892" y="2941684"/>
                </a:cubicBezTo>
                <a:cubicBezTo>
                  <a:pt x="11548993" y="3137322"/>
                  <a:pt x="11331614" y="3183563"/>
                  <a:pt x="11138390" y="3329402"/>
                </a:cubicBezTo>
                <a:cubicBezTo>
                  <a:pt x="11298403" y="3379202"/>
                  <a:pt x="11391998" y="3208463"/>
                  <a:pt x="11509744" y="3229805"/>
                </a:cubicBezTo>
                <a:cubicBezTo>
                  <a:pt x="11567107" y="3283162"/>
                  <a:pt x="11395016" y="3368530"/>
                  <a:pt x="11561068" y="3393429"/>
                </a:cubicBezTo>
                <a:cubicBezTo>
                  <a:pt x="11488610" y="3439672"/>
                  <a:pt x="11437284" y="3485914"/>
                  <a:pt x="11385959" y="3539269"/>
                </a:cubicBezTo>
                <a:cubicBezTo>
                  <a:pt x="11298403" y="3635309"/>
                  <a:pt x="11280289" y="3699337"/>
                  <a:pt x="11322556" y="3827390"/>
                </a:cubicBezTo>
                <a:cubicBezTo>
                  <a:pt x="11349730" y="3912759"/>
                  <a:pt x="11388978" y="3991015"/>
                  <a:pt x="11352748" y="4090612"/>
                </a:cubicBezTo>
                <a:cubicBezTo>
                  <a:pt x="11328595" y="4158196"/>
                  <a:pt x="11337653" y="4204438"/>
                  <a:pt x="11428226" y="4172424"/>
                </a:cubicBezTo>
                <a:cubicBezTo>
                  <a:pt x="11524840" y="4140411"/>
                  <a:pt x="11561068" y="4200882"/>
                  <a:pt x="11536915" y="4321821"/>
                </a:cubicBezTo>
                <a:cubicBezTo>
                  <a:pt x="11521821" y="4400076"/>
                  <a:pt x="11536915" y="4424975"/>
                  <a:pt x="11603338" y="4414305"/>
                </a:cubicBezTo>
                <a:cubicBezTo>
                  <a:pt x="11675796" y="4403633"/>
                  <a:pt x="11745236" y="4353835"/>
                  <a:pt x="11835811" y="4378734"/>
                </a:cubicBezTo>
                <a:cubicBezTo>
                  <a:pt x="11763352" y="4521016"/>
                  <a:pt x="11609374" y="4478331"/>
                  <a:pt x="11524840" y="4613499"/>
                </a:cubicBezTo>
                <a:cubicBezTo>
                  <a:pt x="11624471" y="4613499"/>
                  <a:pt x="11702969" y="4613499"/>
                  <a:pt x="11775427" y="4585042"/>
                </a:cubicBezTo>
                <a:cubicBezTo>
                  <a:pt x="11805619" y="4574373"/>
                  <a:pt x="11838830" y="4560144"/>
                  <a:pt x="11856944" y="4602828"/>
                </a:cubicBezTo>
                <a:cubicBezTo>
                  <a:pt x="11878080" y="4652628"/>
                  <a:pt x="11835811" y="4670412"/>
                  <a:pt x="11811658" y="4677526"/>
                </a:cubicBezTo>
                <a:cubicBezTo>
                  <a:pt x="11742216" y="4702425"/>
                  <a:pt x="11687874" y="4759339"/>
                  <a:pt x="11627490" y="4805580"/>
                </a:cubicBezTo>
                <a:cubicBezTo>
                  <a:pt x="11497668" y="4905177"/>
                  <a:pt x="11355767" y="4990547"/>
                  <a:pt x="11247078" y="5154171"/>
                </a:cubicBezTo>
                <a:cubicBezTo>
                  <a:pt x="11382940" y="5111487"/>
                  <a:pt x="11485590" y="5011889"/>
                  <a:pt x="11615414" y="4994104"/>
                </a:cubicBezTo>
                <a:cubicBezTo>
                  <a:pt x="11503704" y="5143500"/>
                  <a:pt x="11361806" y="5243097"/>
                  <a:pt x="11228964" y="5353367"/>
                </a:cubicBezTo>
                <a:cubicBezTo>
                  <a:pt x="11189714" y="5385379"/>
                  <a:pt x="11150466" y="5406721"/>
                  <a:pt x="11144428" y="5474306"/>
                </a:cubicBezTo>
                <a:cubicBezTo>
                  <a:pt x="11126312" y="5605917"/>
                  <a:pt x="11078008" y="5712629"/>
                  <a:pt x="10969318" y="5769542"/>
                </a:cubicBezTo>
                <a:cubicBezTo>
                  <a:pt x="10969318" y="5769542"/>
                  <a:pt x="10975356" y="5790884"/>
                  <a:pt x="10978374" y="5801555"/>
                </a:cubicBezTo>
                <a:cubicBezTo>
                  <a:pt x="11044797" y="5805112"/>
                  <a:pt x="11096122" y="5726858"/>
                  <a:pt x="11177639" y="5755314"/>
                </a:cubicBezTo>
                <a:cubicBezTo>
                  <a:pt x="11096122" y="5862025"/>
                  <a:pt x="11029702" y="5954508"/>
                  <a:pt x="10917992" y="6004307"/>
                </a:cubicBezTo>
                <a:cubicBezTo>
                  <a:pt x="10827418" y="6043434"/>
                  <a:pt x="10715710" y="6068335"/>
                  <a:pt x="10649289" y="6196388"/>
                </a:cubicBezTo>
                <a:cubicBezTo>
                  <a:pt x="10724768" y="6221287"/>
                  <a:pt x="10782132" y="6189274"/>
                  <a:pt x="10839496" y="6167932"/>
                </a:cubicBezTo>
                <a:cubicBezTo>
                  <a:pt x="10927050" y="6132361"/>
                  <a:pt x="11014605" y="6093234"/>
                  <a:pt x="11102160" y="6057663"/>
                </a:cubicBezTo>
                <a:cubicBezTo>
                  <a:pt x="11135372" y="6043434"/>
                  <a:pt x="11171600" y="6036320"/>
                  <a:pt x="11192734" y="6100347"/>
                </a:cubicBezTo>
                <a:cubicBezTo>
                  <a:pt x="11081026" y="6114575"/>
                  <a:pt x="11014605" y="6199945"/>
                  <a:pt x="10945164" y="6281757"/>
                </a:cubicBezTo>
                <a:cubicBezTo>
                  <a:pt x="10905916" y="6327999"/>
                  <a:pt x="10872705" y="6388469"/>
                  <a:pt x="10803265" y="6367127"/>
                </a:cubicBezTo>
                <a:cubicBezTo>
                  <a:pt x="10767036" y="6356456"/>
                  <a:pt x="10742882" y="6388469"/>
                  <a:pt x="10745901" y="6431153"/>
                </a:cubicBezTo>
                <a:cubicBezTo>
                  <a:pt x="10760998" y="6580550"/>
                  <a:pt x="10673442" y="6630349"/>
                  <a:pt x="10582868" y="6658805"/>
                </a:cubicBezTo>
                <a:cubicBezTo>
                  <a:pt x="10450026" y="6701489"/>
                  <a:pt x="10332280" y="6786859"/>
                  <a:pt x="10208496" y="6858000"/>
                </a:cubicBezTo>
                <a:lnTo>
                  <a:pt x="7272221" y="6858000"/>
                </a:lnTo>
                <a:lnTo>
                  <a:pt x="6362810" y="6858000"/>
                </a:lnTo>
                <a:lnTo>
                  <a:pt x="6139260" y="6858000"/>
                </a:lnTo>
                <a:lnTo>
                  <a:pt x="4282294" y="6858000"/>
                </a:lnTo>
                <a:lnTo>
                  <a:pt x="4114800" y="6858000"/>
                </a:lnTo>
                <a:lnTo>
                  <a:pt x="4038600" y="6858000"/>
                </a:lnTo>
                <a:lnTo>
                  <a:pt x="0" y="6858000"/>
                </a:lnTo>
                <a:close/>
              </a:path>
            </a:pathLst>
          </a:custGeom>
        </p:spPr>
      </p:pic>
      <p:sp>
        <p:nvSpPr>
          <p:cNvPr id="6" name="Metin kutusu 5">
            <a:extLst>
              <a:ext uri="{FF2B5EF4-FFF2-40B4-BE49-F238E27FC236}">
                <a16:creationId xmlns:a16="http://schemas.microsoft.com/office/drawing/2014/main" id="{49446FF5-4BC0-881F-0CF7-33DDE68659E9}"/>
              </a:ext>
            </a:extLst>
          </p:cNvPr>
          <p:cNvSpPr txBox="1"/>
          <p:nvPr/>
        </p:nvSpPr>
        <p:spPr>
          <a:xfrm>
            <a:off x="0" y="117986"/>
            <a:ext cx="5604387" cy="2246769"/>
          </a:xfrm>
          <a:prstGeom prst="rect">
            <a:avLst/>
          </a:prstGeom>
          <a:noFill/>
        </p:spPr>
        <p:txBody>
          <a:bodyPr wrap="square" rtlCol="0">
            <a:spAutoFit/>
          </a:bodyPr>
          <a:lstStyle/>
          <a:p>
            <a:r>
              <a:rPr lang="tr-TR" sz="2800" b="1" dirty="0">
                <a:latin typeface="Times New Roman" panose="02020603050405020304" pitchFamily="18" charset="0"/>
                <a:cs typeface="Times New Roman" panose="02020603050405020304" pitchFamily="18" charset="0"/>
              </a:rPr>
              <a:t>Sınıflandırmak istediğimiz atıkların görüntüsünü kameradan alan bir arayüz oluşturmakla başladım, zamanla bu arayüze yeni şeyler kattım.</a:t>
            </a:r>
          </a:p>
        </p:txBody>
      </p:sp>
      <p:pic>
        <p:nvPicPr>
          <p:cNvPr id="8" name="Resim 7">
            <a:extLst>
              <a:ext uri="{FF2B5EF4-FFF2-40B4-BE49-F238E27FC236}">
                <a16:creationId xmlns:a16="http://schemas.microsoft.com/office/drawing/2014/main" id="{0ABB9C2C-EC5E-1D5F-D102-4055ACEAD259}"/>
              </a:ext>
            </a:extLst>
          </p:cNvPr>
          <p:cNvPicPr>
            <a:picLocks noChangeAspect="1"/>
          </p:cNvPicPr>
          <p:nvPr/>
        </p:nvPicPr>
        <p:blipFill>
          <a:blip r:embed="rId3"/>
          <a:stretch>
            <a:fillRect/>
          </a:stretch>
        </p:blipFill>
        <p:spPr>
          <a:xfrm>
            <a:off x="6007511" y="3858443"/>
            <a:ext cx="6181441" cy="2807404"/>
          </a:xfrm>
          <a:prstGeom prst="rect">
            <a:avLst/>
          </a:prstGeom>
        </p:spPr>
      </p:pic>
      <p:sp>
        <p:nvSpPr>
          <p:cNvPr id="9" name="Metin kutusu 8">
            <a:extLst>
              <a:ext uri="{FF2B5EF4-FFF2-40B4-BE49-F238E27FC236}">
                <a16:creationId xmlns:a16="http://schemas.microsoft.com/office/drawing/2014/main" id="{0E2298B6-ACB0-A5E1-45A9-CA53191A4943}"/>
              </a:ext>
            </a:extLst>
          </p:cNvPr>
          <p:cNvSpPr txBox="1"/>
          <p:nvPr/>
        </p:nvSpPr>
        <p:spPr>
          <a:xfrm>
            <a:off x="-1" y="2364755"/>
            <a:ext cx="5604387" cy="1384995"/>
          </a:xfrm>
          <a:prstGeom prst="rect">
            <a:avLst/>
          </a:prstGeom>
          <a:noFill/>
        </p:spPr>
        <p:txBody>
          <a:bodyPr wrap="square" rtlCol="0">
            <a:spAutoFit/>
          </a:bodyPr>
          <a:lstStyle/>
          <a:p>
            <a:r>
              <a:rPr lang="tr-TR" sz="2800" b="1" dirty="0">
                <a:latin typeface="Times New Roman" panose="02020603050405020304" pitchFamily="18" charset="0"/>
                <a:cs typeface="Times New Roman" panose="02020603050405020304" pitchFamily="18" charset="0"/>
              </a:rPr>
              <a:t>Geçmiş taramalar bölümü basitçe, tarayıp ayrıştırdığımız atıkları kayıt altına alan bir bölüm.</a:t>
            </a:r>
          </a:p>
        </p:txBody>
      </p:sp>
      <p:sp>
        <p:nvSpPr>
          <p:cNvPr id="11" name="Metin kutusu 10">
            <a:extLst>
              <a:ext uri="{FF2B5EF4-FFF2-40B4-BE49-F238E27FC236}">
                <a16:creationId xmlns:a16="http://schemas.microsoft.com/office/drawing/2014/main" id="{0E7A1DF7-8C12-4745-7D81-80F8F37C44EC}"/>
              </a:ext>
            </a:extLst>
          </p:cNvPr>
          <p:cNvSpPr txBox="1"/>
          <p:nvPr/>
        </p:nvSpPr>
        <p:spPr>
          <a:xfrm>
            <a:off x="0" y="3821569"/>
            <a:ext cx="5604387" cy="2677656"/>
          </a:xfrm>
          <a:prstGeom prst="rect">
            <a:avLst/>
          </a:prstGeom>
          <a:noFill/>
        </p:spPr>
        <p:txBody>
          <a:bodyPr wrap="square" rtlCol="0">
            <a:spAutoFit/>
          </a:bodyPr>
          <a:lstStyle/>
          <a:p>
            <a:r>
              <a:rPr lang="tr-TR" sz="2800" b="1" dirty="0">
                <a:latin typeface="Times New Roman" panose="02020603050405020304" pitchFamily="18" charset="0"/>
                <a:cs typeface="Times New Roman" panose="02020603050405020304" pitchFamily="18" charset="0"/>
              </a:rPr>
              <a:t>Atık türünün yanında önceden eğittiğimiz modelimizin bize sunduğu güvenilirlik oranı da bulunmakta, bu oran sayesinde sınıflandırdığımız atığı ne kadar iyi sınıflandırdık görebiliyoruz.</a:t>
            </a:r>
          </a:p>
        </p:txBody>
      </p:sp>
    </p:spTree>
    <p:extLst>
      <p:ext uri="{BB962C8B-B14F-4D97-AF65-F5344CB8AC3E}">
        <p14:creationId xmlns:p14="http://schemas.microsoft.com/office/powerpoint/2010/main" val="298335486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Resim 4">
            <a:extLst>
              <a:ext uri="{FF2B5EF4-FFF2-40B4-BE49-F238E27FC236}">
                <a16:creationId xmlns:a16="http://schemas.microsoft.com/office/drawing/2014/main" id="{4DAA90A3-1856-ECCD-E682-9E69C441C208}"/>
              </a:ext>
            </a:extLst>
          </p:cNvPr>
          <p:cNvPicPr>
            <a:picLocks noChangeAspect="1"/>
          </p:cNvPicPr>
          <p:nvPr/>
        </p:nvPicPr>
        <p:blipFill>
          <a:blip r:embed="rId2"/>
          <a:stretch>
            <a:fillRect/>
          </a:stretch>
        </p:blipFill>
        <p:spPr>
          <a:xfrm>
            <a:off x="4593308" y="697930"/>
            <a:ext cx="7047923" cy="5462139"/>
          </a:xfrm>
          <a:prstGeom prst="rect">
            <a:avLst/>
          </a:prstGeom>
        </p:spPr>
      </p:pic>
      <p:grpSp>
        <p:nvGrpSpPr>
          <p:cNvPr id="14" name="Group 13">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5"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6"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7" name="Resim 6">
            <a:extLst>
              <a:ext uri="{FF2B5EF4-FFF2-40B4-BE49-F238E27FC236}">
                <a16:creationId xmlns:a16="http://schemas.microsoft.com/office/drawing/2014/main" id="{1FEA7961-E25F-0520-5077-157A5B5D0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0076" y="965495"/>
            <a:ext cx="6694385" cy="3351912"/>
          </a:xfrm>
          <a:prstGeom prst="rect">
            <a:avLst/>
          </a:prstGeom>
        </p:spPr>
      </p:pic>
      <p:sp>
        <p:nvSpPr>
          <p:cNvPr id="8" name="Metin kutusu 7">
            <a:extLst>
              <a:ext uri="{FF2B5EF4-FFF2-40B4-BE49-F238E27FC236}">
                <a16:creationId xmlns:a16="http://schemas.microsoft.com/office/drawing/2014/main" id="{B8DC7D1B-35F8-FEE2-37C4-CB2F90C0E1A5}"/>
              </a:ext>
            </a:extLst>
          </p:cNvPr>
          <p:cNvSpPr txBox="1"/>
          <p:nvPr/>
        </p:nvSpPr>
        <p:spPr>
          <a:xfrm>
            <a:off x="120344" y="257609"/>
            <a:ext cx="4209309" cy="707886"/>
          </a:xfrm>
          <a:prstGeom prst="rect">
            <a:avLst/>
          </a:prstGeom>
          <a:noFill/>
        </p:spPr>
        <p:txBody>
          <a:bodyPr wrap="square" rtlCol="0">
            <a:spAutoFit/>
          </a:bodyPr>
          <a:lstStyle/>
          <a:p>
            <a:r>
              <a:rPr lang="tr-TR" sz="4000" b="1" dirty="0">
                <a:latin typeface="Times New Roman" panose="02020603050405020304" pitchFamily="18" charset="0"/>
                <a:cs typeface="Times New Roman" panose="02020603050405020304" pitchFamily="18" charset="0"/>
              </a:rPr>
              <a:t>Güven skoru </a:t>
            </a:r>
          </a:p>
        </p:txBody>
      </p:sp>
      <p:pic>
        <p:nvPicPr>
          <p:cNvPr id="11" name="Resim 10">
            <a:extLst>
              <a:ext uri="{FF2B5EF4-FFF2-40B4-BE49-F238E27FC236}">
                <a16:creationId xmlns:a16="http://schemas.microsoft.com/office/drawing/2014/main" id="{26BBBB19-11B0-3ED2-5AE6-6D515C42CC14}"/>
              </a:ext>
            </a:extLst>
          </p:cNvPr>
          <p:cNvPicPr>
            <a:picLocks noChangeAspect="1"/>
          </p:cNvPicPr>
          <p:nvPr/>
        </p:nvPicPr>
        <p:blipFill>
          <a:blip r:embed="rId4"/>
          <a:stretch>
            <a:fillRect/>
          </a:stretch>
        </p:blipFill>
        <p:spPr>
          <a:xfrm>
            <a:off x="4770076" y="1347425"/>
            <a:ext cx="6694385" cy="2836756"/>
          </a:xfrm>
          <a:prstGeom prst="rect">
            <a:avLst/>
          </a:prstGeom>
        </p:spPr>
      </p:pic>
      <p:sp>
        <p:nvSpPr>
          <p:cNvPr id="13" name="Metin kutusu 12">
            <a:extLst>
              <a:ext uri="{FF2B5EF4-FFF2-40B4-BE49-F238E27FC236}">
                <a16:creationId xmlns:a16="http://schemas.microsoft.com/office/drawing/2014/main" id="{3B468159-CC6A-8E26-C8F6-68AC62B89922}"/>
              </a:ext>
            </a:extLst>
          </p:cNvPr>
          <p:cNvSpPr txBox="1"/>
          <p:nvPr/>
        </p:nvSpPr>
        <p:spPr>
          <a:xfrm>
            <a:off x="120343" y="1094853"/>
            <a:ext cx="4209309" cy="4708981"/>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Güven skoru, kamerada taranan atığın türünü tahmin eden modelin taramada ne kadar başarılı olduğunu düşündüğünü söylemesidir. Daha önce yaptığım testlerde modelimiz kolaya kaçıp en yüksek veri bulunan grubu tekrarlayıp duruyordu, güven skoru eklemek kullanıcının müdahalesini kolaylaştıran bir hamle oldu, artık her şeye aynı sınıfı söyleyen model güven skorunu %40 gibi düşük bantlarda belirttiği sürece sınıflandırmanın tekrar yapılması gerektiği anlaşılıp tekrarlanır ve durum devam ederse modele ayar çekilip tekrar eğitilir.</a:t>
            </a:r>
          </a:p>
        </p:txBody>
      </p:sp>
    </p:spTree>
    <p:extLst>
      <p:ext uri="{BB962C8B-B14F-4D97-AF65-F5344CB8AC3E}">
        <p14:creationId xmlns:p14="http://schemas.microsoft.com/office/powerpoint/2010/main" val="49386227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Resim 10">
            <a:extLst>
              <a:ext uri="{FF2B5EF4-FFF2-40B4-BE49-F238E27FC236}">
                <a16:creationId xmlns:a16="http://schemas.microsoft.com/office/drawing/2014/main" id="{FE494825-C4DD-3A2C-5791-478815FEC5EF}"/>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31000"/>
                    </a14:imgEffect>
                  </a14:imgLayer>
                </a14:imgProps>
              </a:ext>
              <a:ext uri="{28A0092B-C50C-407E-A947-70E740481C1C}">
                <a14:useLocalDpi xmlns:a14="http://schemas.microsoft.com/office/drawing/2010/main" val="0"/>
              </a:ext>
            </a:extLst>
          </a:blip>
          <a:stretch>
            <a:fillRect/>
          </a:stretch>
        </p:blipFill>
        <p:spPr>
          <a:xfrm>
            <a:off x="0" y="-45208"/>
            <a:ext cx="12283440" cy="6903208"/>
          </a:xfrm>
          <a:prstGeom prst="rect">
            <a:avLst/>
          </a:prstGeom>
        </p:spPr>
      </p:pic>
      <p:sp>
        <p:nvSpPr>
          <p:cNvPr id="4" name="Dikdörtgen 3">
            <a:extLst>
              <a:ext uri="{FF2B5EF4-FFF2-40B4-BE49-F238E27FC236}">
                <a16:creationId xmlns:a16="http://schemas.microsoft.com/office/drawing/2014/main" id="{29668BA7-ECA1-05E1-3E6D-BABCB72DACF0}"/>
              </a:ext>
            </a:extLst>
          </p:cNvPr>
          <p:cNvSpPr/>
          <p:nvPr/>
        </p:nvSpPr>
        <p:spPr>
          <a:xfrm>
            <a:off x="302426" y="273296"/>
            <a:ext cx="5793574"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tr-TR" sz="5400" b="1" cap="none" spc="0" dirty="0">
                <a:ln/>
                <a:solidFill>
                  <a:schemeClr val="accent3"/>
                </a:solidFill>
                <a:effectLst/>
              </a:rPr>
              <a:t>Nerede kullanılır?</a:t>
            </a:r>
          </a:p>
        </p:txBody>
      </p:sp>
      <p:sp>
        <p:nvSpPr>
          <p:cNvPr id="5" name="Dikdörtgen 4">
            <a:extLst>
              <a:ext uri="{FF2B5EF4-FFF2-40B4-BE49-F238E27FC236}">
                <a16:creationId xmlns:a16="http://schemas.microsoft.com/office/drawing/2014/main" id="{8ACA3BC0-71C5-94FF-5B4D-32965BE0357B}"/>
              </a:ext>
            </a:extLst>
          </p:cNvPr>
          <p:cNvSpPr/>
          <p:nvPr/>
        </p:nvSpPr>
        <p:spPr>
          <a:xfrm>
            <a:off x="302426" y="1068196"/>
            <a:ext cx="9311872" cy="1200329"/>
          </a:xfrm>
          <a:prstGeom prst="rect">
            <a:avLst/>
          </a:prstGeom>
          <a:noFill/>
        </p:spPr>
        <p:txBody>
          <a:bodyPr wrap="square" lIns="91440" tIns="45720" rIns="91440" bIns="45720">
            <a:spAutoFit/>
          </a:bodyPr>
          <a:lstStyle/>
          <a:p>
            <a:r>
              <a:rPr lang="tr-TR" sz="3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Endüstriyel Geri Dönüşüm Tesisleri(Akıllı bantlar)</a:t>
            </a:r>
          </a:p>
        </p:txBody>
      </p:sp>
      <p:sp>
        <p:nvSpPr>
          <p:cNvPr id="6" name="Metin kutusu 5">
            <a:extLst>
              <a:ext uri="{FF2B5EF4-FFF2-40B4-BE49-F238E27FC236}">
                <a16:creationId xmlns:a16="http://schemas.microsoft.com/office/drawing/2014/main" id="{C6B60885-90AB-3F06-9A15-6CB97E8CF448}"/>
              </a:ext>
            </a:extLst>
          </p:cNvPr>
          <p:cNvSpPr txBox="1"/>
          <p:nvPr/>
        </p:nvSpPr>
        <p:spPr>
          <a:xfrm>
            <a:off x="302426" y="2268525"/>
            <a:ext cx="6108206" cy="1569660"/>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Günümüzde devasa geri dönüşüm tesislerinde çöpler hızla akan konveyör bantlardan geçer. Eskiden bu çöpleri insanlar elleriyle ayırıyordu (ki bu çok yavaş ve sağlıksız bir yöntemdir).</a:t>
            </a:r>
          </a:p>
        </p:txBody>
      </p:sp>
      <p:sp>
        <p:nvSpPr>
          <p:cNvPr id="7" name="Metin kutusu 6">
            <a:extLst>
              <a:ext uri="{FF2B5EF4-FFF2-40B4-BE49-F238E27FC236}">
                <a16:creationId xmlns:a16="http://schemas.microsoft.com/office/drawing/2014/main" id="{1420E2CE-0153-60DA-8D68-4B612279EA60}"/>
              </a:ext>
            </a:extLst>
          </p:cNvPr>
          <p:cNvSpPr txBox="1"/>
          <p:nvPr/>
        </p:nvSpPr>
        <p:spPr>
          <a:xfrm>
            <a:off x="302426" y="3972230"/>
            <a:ext cx="6403174" cy="1938992"/>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Artık kamera saniyeler içinde altından geçen atığın "</a:t>
            </a:r>
            <a:r>
              <a:rPr lang="tr-TR" sz="2400" dirty="0" err="1">
                <a:latin typeface="Times New Roman" panose="02020603050405020304" pitchFamily="18" charset="0"/>
                <a:cs typeface="Times New Roman" panose="02020603050405020304" pitchFamily="18" charset="0"/>
              </a:rPr>
              <a:t>plastic</a:t>
            </a:r>
            <a:r>
              <a:rPr lang="tr-TR" sz="2400" dirty="0">
                <a:latin typeface="Times New Roman" panose="02020603050405020304" pitchFamily="18" charset="0"/>
                <a:cs typeface="Times New Roman" panose="02020603050405020304" pitchFamily="18" charset="0"/>
              </a:rPr>
              <a:t>", "metal" veya "</a:t>
            </a:r>
            <a:r>
              <a:rPr lang="tr-TR" sz="2400" dirty="0" err="1">
                <a:latin typeface="Times New Roman" panose="02020603050405020304" pitchFamily="18" charset="0"/>
                <a:cs typeface="Times New Roman" panose="02020603050405020304" pitchFamily="18" charset="0"/>
              </a:rPr>
              <a:t>glass</a:t>
            </a:r>
            <a:r>
              <a:rPr lang="tr-TR" sz="2400" dirty="0">
                <a:latin typeface="Times New Roman" panose="02020603050405020304" pitchFamily="18" charset="0"/>
                <a:cs typeface="Times New Roman" panose="02020603050405020304" pitchFamily="18" charset="0"/>
              </a:rPr>
              <a:t>" olduğunu tespit edip </a:t>
            </a:r>
            <a:r>
              <a:rPr lang="tr-TR" sz="2400" dirty="0" err="1">
                <a:latin typeface="Times New Roman" panose="02020603050405020304" pitchFamily="18" charset="0"/>
                <a:cs typeface="Times New Roman" panose="02020603050405020304" pitchFamily="18" charset="0"/>
              </a:rPr>
              <a:t>pnömatik</a:t>
            </a:r>
            <a:r>
              <a:rPr lang="tr-TR" sz="2400" dirty="0">
                <a:latin typeface="Times New Roman" panose="02020603050405020304" pitchFamily="18" charset="0"/>
                <a:cs typeface="Times New Roman" panose="02020603050405020304" pitchFamily="18" charset="0"/>
              </a:rPr>
              <a:t> (hava üfleyen) sistemlere veya robotik kollara sinyal göndererek atıkların otomatik ayrıştırılmasını sağlıyor.</a:t>
            </a:r>
          </a:p>
        </p:txBody>
      </p:sp>
    </p:spTree>
    <p:extLst>
      <p:ext uri="{BB962C8B-B14F-4D97-AF65-F5344CB8AC3E}">
        <p14:creationId xmlns:p14="http://schemas.microsoft.com/office/powerpoint/2010/main" val="237042216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Resim 12">
            <a:extLst>
              <a:ext uri="{FF2B5EF4-FFF2-40B4-BE49-F238E27FC236}">
                <a16:creationId xmlns:a16="http://schemas.microsoft.com/office/drawing/2014/main" id="{3DD94A75-A765-6A74-90F3-0EB8B40E5135}"/>
              </a:ext>
            </a:extLst>
          </p:cNvPr>
          <p:cNvPicPr>
            <a:picLocks noChangeAspect="1"/>
          </p:cNvPicPr>
          <p:nvPr/>
        </p:nvPicPr>
        <p:blipFill>
          <a:blip r:embed="rId2">
            <a:alphaModFix amt="81000"/>
            <a:extLst>
              <a:ext uri="{BEBA8EAE-BF5A-486C-A8C5-ECC9F3942E4B}">
                <a14:imgProps xmlns:a14="http://schemas.microsoft.com/office/drawing/2010/main">
                  <a14:imgLayer r:embed="rId3">
                    <a14:imgEffect>
                      <a14:sharpenSoften amount="-44000"/>
                    </a14:imgEffect>
                  </a14:imgLayer>
                </a14:imgProps>
              </a:ext>
              <a:ext uri="{28A0092B-C50C-407E-A947-70E740481C1C}">
                <a14:useLocalDpi xmlns:a14="http://schemas.microsoft.com/office/drawing/2010/main" val="0"/>
              </a:ext>
            </a:extLst>
          </a:blip>
          <a:stretch>
            <a:fillRect/>
          </a:stretch>
        </p:blipFill>
        <p:spPr>
          <a:xfrm>
            <a:off x="-14154" y="461665"/>
            <a:ext cx="6858000" cy="6396335"/>
          </a:xfrm>
          <a:prstGeom prst="rect">
            <a:avLst/>
          </a:prstGeom>
        </p:spPr>
      </p:pic>
      <p:pic>
        <p:nvPicPr>
          <p:cNvPr id="11" name="Resim 10">
            <a:extLst>
              <a:ext uri="{FF2B5EF4-FFF2-40B4-BE49-F238E27FC236}">
                <a16:creationId xmlns:a16="http://schemas.microsoft.com/office/drawing/2014/main" id="{9FB67AE5-8957-C0A0-BB88-7A607B132ED0}"/>
              </a:ext>
            </a:extLst>
          </p:cNvPr>
          <p:cNvPicPr>
            <a:picLocks noChangeAspect="1"/>
          </p:cNvPicPr>
          <p:nvPr/>
        </p:nvPicPr>
        <p:blipFill>
          <a:blip r:embed="rId4">
            <a:alphaModFix amt="61000"/>
            <a:extLst>
              <a:ext uri="{BEBA8EAE-BF5A-486C-A8C5-ECC9F3942E4B}">
                <a14:imgProps xmlns:a14="http://schemas.microsoft.com/office/drawing/2010/main">
                  <a14:imgLayer r:embed="rId5">
                    <a14:imgEffect>
                      <a14:sharpenSoften amount="-28000"/>
                    </a14:imgEffect>
                  </a14:imgLayer>
                </a14:imgProps>
              </a:ext>
              <a:ext uri="{28A0092B-C50C-407E-A947-70E740481C1C}">
                <a14:useLocalDpi xmlns:a14="http://schemas.microsoft.com/office/drawing/2010/main" val="0"/>
              </a:ext>
            </a:extLst>
          </a:blip>
          <a:stretch>
            <a:fillRect/>
          </a:stretch>
        </p:blipFill>
        <p:spPr>
          <a:xfrm>
            <a:off x="3848100" y="0"/>
            <a:ext cx="8343900" cy="5270500"/>
          </a:xfrm>
          <a:prstGeom prst="rect">
            <a:avLst/>
          </a:prstGeom>
        </p:spPr>
      </p:pic>
      <p:sp>
        <p:nvSpPr>
          <p:cNvPr id="4" name="Dikdörtgen 3">
            <a:extLst>
              <a:ext uri="{FF2B5EF4-FFF2-40B4-BE49-F238E27FC236}">
                <a16:creationId xmlns:a16="http://schemas.microsoft.com/office/drawing/2014/main" id="{786F9B54-D0AC-0452-B3F4-6F861C055D62}"/>
              </a:ext>
            </a:extLst>
          </p:cNvPr>
          <p:cNvSpPr/>
          <p:nvPr/>
        </p:nvSpPr>
        <p:spPr>
          <a:xfrm>
            <a:off x="25768" y="784572"/>
            <a:ext cx="7285703" cy="707886"/>
          </a:xfrm>
          <a:prstGeom prst="rect">
            <a:avLst/>
          </a:prstGeom>
          <a:noFill/>
        </p:spPr>
        <p:txBody>
          <a:bodyPr wrap="square" lIns="91440" tIns="45720" rIns="91440" bIns="45720">
            <a:spAutoFit/>
          </a:bodyPr>
          <a:lstStyle/>
          <a:p>
            <a:r>
              <a:rPr lang="tr-TR"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Akıllı Çöp Kutuları:</a:t>
            </a:r>
          </a:p>
        </p:txBody>
      </p:sp>
      <p:sp>
        <p:nvSpPr>
          <p:cNvPr id="8" name="Dikdörtgen 7">
            <a:extLst>
              <a:ext uri="{FF2B5EF4-FFF2-40B4-BE49-F238E27FC236}">
                <a16:creationId xmlns:a16="http://schemas.microsoft.com/office/drawing/2014/main" id="{FEF3E930-3C17-A889-05F5-D2AB7C620271}"/>
              </a:ext>
            </a:extLst>
          </p:cNvPr>
          <p:cNvSpPr/>
          <p:nvPr/>
        </p:nvSpPr>
        <p:spPr>
          <a:xfrm>
            <a:off x="0" y="0"/>
            <a:ext cx="5793574"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tr-TR" sz="5400" b="1" cap="none" spc="0" dirty="0">
                <a:ln/>
                <a:solidFill>
                  <a:schemeClr val="accent3"/>
                </a:solidFill>
                <a:effectLst/>
              </a:rPr>
              <a:t>Nerede kullanılır?</a:t>
            </a:r>
          </a:p>
        </p:txBody>
      </p:sp>
      <p:sp>
        <p:nvSpPr>
          <p:cNvPr id="9" name="Metin kutusu 8">
            <a:extLst>
              <a:ext uri="{FF2B5EF4-FFF2-40B4-BE49-F238E27FC236}">
                <a16:creationId xmlns:a16="http://schemas.microsoft.com/office/drawing/2014/main" id="{DF1A3A14-5553-B56C-CEC4-4CF88626157E}"/>
              </a:ext>
            </a:extLst>
          </p:cNvPr>
          <p:cNvSpPr txBox="1"/>
          <p:nvPr/>
        </p:nvSpPr>
        <p:spPr>
          <a:xfrm>
            <a:off x="25768" y="1531787"/>
            <a:ext cx="8327923" cy="3785652"/>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Çöp kutuları; Özellikle Türkiye’de toplumumuzda ’’geri dönüşüm bilinci’’ neredeyse hiç yok, gelişigüzel sokağa atılan çöpler ve ya çöp kutusuna atılan plastikler bunun en büyük örneği. Bu konu hakkında en büyük önlem toplumumuzu bilinçlendirmek olsa da atık sınıflandırmayı kullanarak da bunu bir nebze çözebiliriz.</a:t>
            </a:r>
          </a:p>
          <a:p>
            <a:r>
              <a:rPr lang="tr-TR" sz="2400" dirty="0">
                <a:latin typeface="Times New Roman" panose="02020603050405020304" pitchFamily="18" charset="0"/>
                <a:cs typeface="Times New Roman" panose="02020603050405020304" pitchFamily="18" charset="0"/>
              </a:rPr>
              <a:t>Akıllı çöp kutuları üzerindeki kamerayla birlikte gösterilen atığı anlayıp ona uygun bölmeye yönlendiriyor. Bu sayede 5-6 farklı atık sınıfı için ayrı ayrı kutular yapmak yerine tek kutu içerisine her şeyi atabilmeyi sağlar. Bu çöpe atılan cam, plastik vb. materyallerin geri dönüşüme katılmasını sağlayabilir.</a:t>
            </a:r>
          </a:p>
        </p:txBody>
      </p:sp>
    </p:spTree>
    <p:extLst>
      <p:ext uri="{BB962C8B-B14F-4D97-AF65-F5344CB8AC3E}">
        <p14:creationId xmlns:p14="http://schemas.microsoft.com/office/powerpoint/2010/main" val="279995528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kdörtgen 9">
            <a:extLst>
              <a:ext uri="{FF2B5EF4-FFF2-40B4-BE49-F238E27FC236}">
                <a16:creationId xmlns:a16="http://schemas.microsoft.com/office/drawing/2014/main" id="{490B2A42-3186-D95E-EB7E-971CD90908B2}"/>
              </a:ext>
            </a:extLst>
          </p:cNvPr>
          <p:cNvSpPr/>
          <p:nvPr/>
        </p:nvSpPr>
        <p:spPr>
          <a:xfrm>
            <a:off x="214016" y="576353"/>
            <a:ext cx="3815403"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tr-TR" sz="5400" b="1" dirty="0">
                <a:ln/>
                <a:solidFill>
                  <a:schemeClr val="accent3"/>
                </a:solidFill>
              </a:rPr>
              <a:t>Eksi yönler</a:t>
            </a:r>
            <a:r>
              <a:rPr lang="tr-TR" sz="5400" b="1" cap="none" spc="0" dirty="0">
                <a:ln/>
                <a:solidFill>
                  <a:schemeClr val="accent3"/>
                </a:solidFill>
                <a:effectLst/>
              </a:rPr>
              <a:t>:</a:t>
            </a:r>
          </a:p>
        </p:txBody>
      </p:sp>
      <p:sp>
        <p:nvSpPr>
          <p:cNvPr id="12" name="Metin kutusu 11">
            <a:extLst>
              <a:ext uri="{FF2B5EF4-FFF2-40B4-BE49-F238E27FC236}">
                <a16:creationId xmlns:a16="http://schemas.microsoft.com/office/drawing/2014/main" id="{D15A2CEA-9D7B-E05F-6C71-6FE14C8B8606}"/>
              </a:ext>
            </a:extLst>
          </p:cNvPr>
          <p:cNvSpPr txBox="1"/>
          <p:nvPr/>
        </p:nvSpPr>
        <p:spPr>
          <a:xfrm>
            <a:off x="214017" y="1484294"/>
            <a:ext cx="8625181" cy="1384995"/>
          </a:xfrm>
          <a:prstGeom prst="rect">
            <a:avLst/>
          </a:prstGeom>
          <a:noFill/>
        </p:spPr>
        <p:txBody>
          <a:bodyPr wrap="square" rtlCol="0">
            <a:spAutoFit/>
          </a:bodyPr>
          <a:lstStyle/>
          <a:p>
            <a:r>
              <a:rPr lang="tr-TR" sz="2800" dirty="0">
                <a:latin typeface="Times New Roman" panose="02020603050405020304" pitchFamily="18" charset="0"/>
                <a:cs typeface="Times New Roman" panose="02020603050405020304" pitchFamily="18" charset="0"/>
              </a:rPr>
              <a:t>-Çok kapsamlı bir sınıflandırma yanlış sonuçlara sebebiyet verebiliyor. Kapsamlı sınıflandırmadansa basit ancak doğruluk oranı yüksek olmalı.</a:t>
            </a:r>
          </a:p>
        </p:txBody>
      </p:sp>
      <p:sp>
        <p:nvSpPr>
          <p:cNvPr id="13" name="Metin kutusu 12">
            <a:extLst>
              <a:ext uri="{FF2B5EF4-FFF2-40B4-BE49-F238E27FC236}">
                <a16:creationId xmlns:a16="http://schemas.microsoft.com/office/drawing/2014/main" id="{DDBF4223-C789-E404-EBB5-C40F6A8677BC}"/>
              </a:ext>
            </a:extLst>
          </p:cNvPr>
          <p:cNvSpPr txBox="1"/>
          <p:nvPr/>
        </p:nvSpPr>
        <p:spPr>
          <a:xfrm>
            <a:off x="214017" y="2951858"/>
            <a:ext cx="8625181" cy="1815882"/>
          </a:xfrm>
          <a:prstGeom prst="rect">
            <a:avLst/>
          </a:prstGeom>
          <a:noFill/>
        </p:spPr>
        <p:txBody>
          <a:bodyPr wrap="square" rtlCol="0">
            <a:spAutoFit/>
          </a:bodyPr>
          <a:lstStyle/>
          <a:p>
            <a:r>
              <a:rPr lang="tr-TR" sz="2800" dirty="0">
                <a:latin typeface="Times New Roman" panose="02020603050405020304" pitchFamily="18" charset="0"/>
                <a:cs typeface="Times New Roman" panose="02020603050405020304" pitchFamily="18" charset="0"/>
              </a:rPr>
              <a:t>-Cisme bakış açısı önemli, yanlış açıdan gösterilen cisim tamamen yanlış sonuçlara sebebiyet verebiliyor. Daha büyük </a:t>
            </a:r>
            <a:r>
              <a:rPr lang="tr-TR" sz="2800" dirty="0" err="1">
                <a:latin typeface="Times New Roman" panose="02020603050405020304" pitchFamily="18" charset="0"/>
                <a:cs typeface="Times New Roman" panose="02020603050405020304" pitchFamily="18" charset="0"/>
              </a:rPr>
              <a:t>verisetleri</a:t>
            </a:r>
            <a:r>
              <a:rPr lang="tr-TR" sz="2800" dirty="0">
                <a:latin typeface="Times New Roman" panose="02020603050405020304" pitchFamily="18" charset="0"/>
                <a:cs typeface="Times New Roman" panose="02020603050405020304" pitchFamily="18" charset="0"/>
              </a:rPr>
              <a:t> ve yüksek performanslı bilgisayarlar bunu es geçebilir.</a:t>
            </a:r>
          </a:p>
        </p:txBody>
      </p:sp>
      <p:sp>
        <p:nvSpPr>
          <p:cNvPr id="19" name="Metin kutusu 18">
            <a:extLst>
              <a:ext uri="{FF2B5EF4-FFF2-40B4-BE49-F238E27FC236}">
                <a16:creationId xmlns:a16="http://schemas.microsoft.com/office/drawing/2014/main" id="{6F6082E6-D840-CCA7-1A2D-43F570109867}"/>
              </a:ext>
            </a:extLst>
          </p:cNvPr>
          <p:cNvSpPr txBox="1"/>
          <p:nvPr/>
        </p:nvSpPr>
        <p:spPr>
          <a:xfrm>
            <a:off x="214016" y="4850309"/>
            <a:ext cx="8625181" cy="1384995"/>
          </a:xfrm>
          <a:prstGeom prst="rect">
            <a:avLst/>
          </a:prstGeom>
          <a:noFill/>
        </p:spPr>
        <p:txBody>
          <a:bodyPr wrap="square" rtlCol="0">
            <a:spAutoFit/>
          </a:bodyPr>
          <a:lstStyle/>
          <a:p>
            <a:r>
              <a:rPr lang="tr-TR" sz="2800" dirty="0">
                <a:latin typeface="Times New Roman" panose="02020603050405020304" pitchFamily="18" charset="0"/>
                <a:cs typeface="Times New Roman" panose="02020603050405020304" pitchFamily="18" charset="0"/>
              </a:rPr>
              <a:t>-Kamera ne kadar karmaşık bir görüntü alıyorsa doğruluk oranı o kadar düşüyor, ışık önemli bir faktör plastikle camın sınıflandırılmasında ışık büyük önem taşıyor.</a:t>
            </a:r>
          </a:p>
        </p:txBody>
      </p:sp>
      <p:pic>
        <p:nvPicPr>
          <p:cNvPr id="24" name="Resim 23">
            <a:extLst>
              <a:ext uri="{FF2B5EF4-FFF2-40B4-BE49-F238E27FC236}">
                <a16:creationId xmlns:a16="http://schemas.microsoft.com/office/drawing/2014/main" id="{ED4DE387-3558-DB68-A60E-2E84A3419124}"/>
              </a:ext>
            </a:extLst>
          </p:cNvPr>
          <p:cNvPicPr>
            <a:picLocks noChangeAspect="1"/>
          </p:cNvPicPr>
          <p:nvPr/>
        </p:nvPicPr>
        <p:blipFill>
          <a:blip r:embed="rId3"/>
          <a:stretch>
            <a:fillRect/>
          </a:stretch>
        </p:blipFill>
        <p:spPr>
          <a:xfrm>
            <a:off x="9401314" y="3239376"/>
            <a:ext cx="2476846" cy="3477109"/>
          </a:xfrm>
          <a:prstGeom prst="rect">
            <a:avLst/>
          </a:prstGeom>
        </p:spPr>
      </p:pic>
      <p:pic>
        <p:nvPicPr>
          <p:cNvPr id="26" name="Resim 25">
            <a:extLst>
              <a:ext uri="{FF2B5EF4-FFF2-40B4-BE49-F238E27FC236}">
                <a16:creationId xmlns:a16="http://schemas.microsoft.com/office/drawing/2014/main" id="{2D004C01-0703-279F-8A66-BC2C2AAF8022}"/>
              </a:ext>
            </a:extLst>
          </p:cNvPr>
          <p:cNvPicPr>
            <a:picLocks noChangeAspect="1"/>
          </p:cNvPicPr>
          <p:nvPr/>
        </p:nvPicPr>
        <p:blipFill>
          <a:blip r:embed="rId4"/>
          <a:stretch>
            <a:fillRect/>
          </a:stretch>
        </p:blipFill>
        <p:spPr>
          <a:xfrm>
            <a:off x="9401315" y="141514"/>
            <a:ext cx="2476846" cy="3562847"/>
          </a:xfrm>
          <a:prstGeom prst="rect">
            <a:avLst/>
          </a:prstGeom>
        </p:spPr>
      </p:pic>
    </p:spTree>
    <p:extLst>
      <p:ext uri="{BB962C8B-B14F-4D97-AF65-F5344CB8AC3E}">
        <p14:creationId xmlns:p14="http://schemas.microsoft.com/office/powerpoint/2010/main" val="337305388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C57E1A50-7CA5-15B9-E729-DEBC92C160C9}"/>
              </a:ext>
            </a:extLst>
          </p:cNvPr>
          <p:cNvPicPr>
            <a:picLocks noChangeAspect="1"/>
          </p:cNvPicPr>
          <p:nvPr/>
        </p:nvPicPr>
        <p:blipFill>
          <a:blip r:embed="rId2"/>
          <a:stretch>
            <a:fillRect/>
          </a:stretch>
        </p:blipFill>
        <p:spPr>
          <a:xfrm>
            <a:off x="391533" y="375992"/>
            <a:ext cx="6206535" cy="4337522"/>
          </a:xfrm>
          <a:prstGeom prst="rect">
            <a:avLst/>
          </a:prstGeom>
        </p:spPr>
      </p:pic>
      <p:pic>
        <p:nvPicPr>
          <p:cNvPr id="6" name="Resim 5">
            <a:extLst>
              <a:ext uri="{FF2B5EF4-FFF2-40B4-BE49-F238E27FC236}">
                <a16:creationId xmlns:a16="http://schemas.microsoft.com/office/drawing/2014/main" id="{FEFB5CF7-A1B1-CA5E-7E4D-C19F13DC4863}"/>
              </a:ext>
            </a:extLst>
          </p:cNvPr>
          <p:cNvPicPr>
            <a:picLocks noChangeAspect="1"/>
          </p:cNvPicPr>
          <p:nvPr/>
        </p:nvPicPr>
        <p:blipFill>
          <a:blip r:embed="rId3"/>
          <a:stretch>
            <a:fillRect/>
          </a:stretch>
        </p:blipFill>
        <p:spPr>
          <a:xfrm>
            <a:off x="6943556" y="375992"/>
            <a:ext cx="3506730" cy="5122034"/>
          </a:xfrm>
          <a:prstGeom prst="rect">
            <a:avLst/>
          </a:prstGeom>
        </p:spPr>
      </p:pic>
      <p:pic>
        <p:nvPicPr>
          <p:cNvPr id="18" name="Resim 17">
            <a:extLst>
              <a:ext uri="{FF2B5EF4-FFF2-40B4-BE49-F238E27FC236}">
                <a16:creationId xmlns:a16="http://schemas.microsoft.com/office/drawing/2014/main" id="{D428C380-3D3C-6953-E358-2809DD46A8BE}"/>
              </a:ext>
            </a:extLst>
          </p:cNvPr>
          <p:cNvPicPr>
            <a:picLocks noChangeAspect="1"/>
          </p:cNvPicPr>
          <p:nvPr/>
        </p:nvPicPr>
        <p:blipFill>
          <a:blip r:embed="rId4"/>
          <a:stretch>
            <a:fillRect/>
          </a:stretch>
        </p:blipFill>
        <p:spPr>
          <a:xfrm>
            <a:off x="8128572" y="3962401"/>
            <a:ext cx="3896554" cy="871597"/>
          </a:xfrm>
          <a:prstGeom prst="rect">
            <a:avLst/>
          </a:prstGeom>
        </p:spPr>
      </p:pic>
      <mc:AlternateContent xmlns:mc="http://schemas.openxmlformats.org/markup-compatibility/2006">
        <mc:Choice xmlns:p14="http://schemas.microsoft.com/office/powerpoint/2010/main" Requires="p14">
          <p:contentPart p14:bwMode="auto" r:id="rId5">
            <p14:nvContentPartPr>
              <p14:cNvPr id="30" name="Mürekkep 29">
                <a:extLst>
                  <a:ext uri="{FF2B5EF4-FFF2-40B4-BE49-F238E27FC236}">
                    <a16:creationId xmlns:a16="http://schemas.microsoft.com/office/drawing/2014/main" id="{257E293E-0ACA-9D39-E09D-8F8E10045BB8}"/>
                  </a:ext>
                </a:extLst>
              </p14:cNvPr>
              <p14:cNvContentPartPr/>
              <p14:nvPr/>
            </p14:nvContentPartPr>
            <p14:xfrm>
              <a:off x="8545166" y="4145623"/>
              <a:ext cx="2922120" cy="383760"/>
            </p14:xfrm>
          </p:contentPart>
        </mc:Choice>
        <mc:Fallback>
          <p:pic>
            <p:nvPicPr>
              <p:cNvPr id="30" name="Mürekkep 29">
                <a:extLst>
                  <a:ext uri="{FF2B5EF4-FFF2-40B4-BE49-F238E27FC236}">
                    <a16:creationId xmlns:a16="http://schemas.microsoft.com/office/drawing/2014/main" id="{257E293E-0ACA-9D39-E09D-8F8E10045BB8}"/>
                  </a:ext>
                </a:extLst>
              </p:cNvPr>
              <p:cNvPicPr/>
              <p:nvPr/>
            </p:nvPicPr>
            <p:blipFill>
              <a:blip r:embed="rId6"/>
              <a:stretch>
                <a:fillRect/>
              </a:stretch>
            </p:blipFill>
            <p:spPr>
              <a:xfrm>
                <a:off x="8491166" y="4037623"/>
                <a:ext cx="3029760" cy="599400"/>
              </a:xfrm>
              <a:prstGeom prst="rect">
                <a:avLst/>
              </a:prstGeom>
            </p:spPr>
          </p:pic>
        </mc:Fallback>
      </mc:AlternateContent>
      <p:pic>
        <p:nvPicPr>
          <p:cNvPr id="32" name="Resim 31">
            <a:extLst>
              <a:ext uri="{FF2B5EF4-FFF2-40B4-BE49-F238E27FC236}">
                <a16:creationId xmlns:a16="http://schemas.microsoft.com/office/drawing/2014/main" id="{2BDFEC51-7DAB-2C88-C11A-26D7CFD7848D}"/>
              </a:ext>
            </a:extLst>
          </p:cNvPr>
          <p:cNvPicPr>
            <a:picLocks noChangeAspect="1"/>
          </p:cNvPicPr>
          <p:nvPr/>
        </p:nvPicPr>
        <p:blipFill>
          <a:blip r:embed="rId7"/>
          <a:stretch>
            <a:fillRect/>
          </a:stretch>
        </p:blipFill>
        <p:spPr>
          <a:xfrm>
            <a:off x="2045708" y="5137608"/>
            <a:ext cx="4552360" cy="958391"/>
          </a:xfrm>
          <a:prstGeom prst="rect">
            <a:avLst/>
          </a:prstGeom>
        </p:spPr>
      </p:pic>
      <mc:AlternateContent xmlns:mc="http://schemas.openxmlformats.org/markup-compatibility/2006">
        <mc:Choice xmlns:p14="http://schemas.microsoft.com/office/powerpoint/2010/main" Requires="p14">
          <p:contentPart p14:bwMode="auto" r:id="rId8">
            <p14:nvContentPartPr>
              <p14:cNvPr id="33" name="Mürekkep 32">
                <a:extLst>
                  <a:ext uri="{FF2B5EF4-FFF2-40B4-BE49-F238E27FC236}">
                    <a16:creationId xmlns:a16="http://schemas.microsoft.com/office/drawing/2014/main" id="{F602DCFB-AC32-8354-A4DE-6685DF7B8BEE}"/>
                  </a:ext>
                </a:extLst>
              </p14:cNvPr>
              <p14:cNvContentPartPr/>
              <p14:nvPr/>
            </p14:nvContentPartPr>
            <p14:xfrm>
              <a:off x="2623526" y="5593543"/>
              <a:ext cx="3628080" cy="383400"/>
            </p14:xfrm>
          </p:contentPart>
        </mc:Choice>
        <mc:Fallback>
          <p:pic>
            <p:nvPicPr>
              <p:cNvPr id="33" name="Mürekkep 32">
                <a:extLst>
                  <a:ext uri="{FF2B5EF4-FFF2-40B4-BE49-F238E27FC236}">
                    <a16:creationId xmlns:a16="http://schemas.microsoft.com/office/drawing/2014/main" id="{F602DCFB-AC32-8354-A4DE-6685DF7B8BEE}"/>
                  </a:ext>
                </a:extLst>
              </p:cNvPr>
              <p:cNvPicPr/>
              <p:nvPr/>
            </p:nvPicPr>
            <p:blipFill>
              <a:blip r:embed="rId9"/>
              <a:stretch>
                <a:fillRect/>
              </a:stretch>
            </p:blipFill>
            <p:spPr>
              <a:xfrm>
                <a:off x="2569886" y="5485543"/>
                <a:ext cx="3735720" cy="599040"/>
              </a:xfrm>
              <a:prstGeom prst="rect">
                <a:avLst/>
              </a:prstGeom>
            </p:spPr>
          </p:pic>
        </mc:Fallback>
      </mc:AlternateContent>
      <p:cxnSp>
        <p:nvCxnSpPr>
          <p:cNvPr id="35" name="Düz Ok Bağlayıcısı 34">
            <a:extLst>
              <a:ext uri="{FF2B5EF4-FFF2-40B4-BE49-F238E27FC236}">
                <a16:creationId xmlns:a16="http://schemas.microsoft.com/office/drawing/2014/main" id="{9B194047-1CC2-9F41-C650-93025CEE42D7}"/>
              </a:ext>
            </a:extLst>
          </p:cNvPr>
          <p:cNvCxnSpPr>
            <a:cxnSpLocks/>
          </p:cNvCxnSpPr>
          <p:nvPr/>
        </p:nvCxnSpPr>
        <p:spPr>
          <a:xfrm flipH="1">
            <a:off x="4844143" y="4713514"/>
            <a:ext cx="195943" cy="760973"/>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Düz Ok Bağlayıcısı 37">
            <a:extLst>
              <a:ext uri="{FF2B5EF4-FFF2-40B4-BE49-F238E27FC236}">
                <a16:creationId xmlns:a16="http://schemas.microsoft.com/office/drawing/2014/main" id="{4A80111C-0789-2C78-E8C8-1FBB45E4B6EA}"/>
              </a:ext>
            </a:extLst>
          </p:cNvPr>
          <p:cNvCxnSpPr>
            <a:cxnSpLocks/>
          </p:cNvCxnSpPr>
          <p:nvPr/>
        </p:nvCxnSpPr>
        <p:spPr>
          <a:xfrm flipV="1">
            <a:off x="9378867" y="4742470"/>
            <a:ext cx="627359" cy="549500"/>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Oval 39">
            <a:extLst>
              <a:ext uri="{FF2B5EF4-FFF2-40B4-BE49-F238E27FC236}">
                <a16:creationId xmlns:a16="http://schemas.microsoft.com/office/drawing/2014/main" id="{9B5CAE0F-F926-CAE6-8339-418E15A47DB0}"/>
              </a:ext>
            </a:extLst>
          </p:cNvPr>
          <p:cNvSpPr/>
          <p:nvPr/>
        </p:nvSpPr>
        <p:spPr>
          <a:xfrm>
            <a:off x="4343400" y="4310426"/>
            <a:ext cx="1583155" cy="522144"/>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1" name="Oval 40">
            <a:extLst>
              <a:ext uri="{FF2B5EF4-FFF2-40B4-BE49-F238E27FC236}">
                <a16:creationId xmlns:a16="http://schemas.microsoft.com/office/drawing/2014/main" id="{6CEB6814-A393-C484-18E4-2307CB5420A0}"/>
              </a:ext>
            </a:extLst>
          </p:cNvPr>
          <p:cNvSpPr/>
          <p:nvPr/>
        </p:nvSpPr>
        <p:spPr>
          <a:xfrm>
            <a:off x="7905343" y="4952343"/>
            <a:ext cx="1583155" cy="522144"/>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82473754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Resim 13">
            <a:extLst>
              <a:ext uri="{FF2B5EF4-FFF2-40B4-BE49-F238E27FC236}">
                <a16:creationId xmlns:a16="http://schemas.microsoft.com/office/drawing/2014/main" id="{93C087A5-C8D9-B67E-53E5-31D252EB2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8814" y="-427265"/>
            <a:ext cx="7712529" cy="7712529"/>
          </a:xfrm>
          <a:prstGeom prst="rect">
            <a:avLst/>
          </a:prstGeom>
        </p:spPr>
      </p:pic>
      <p:sp>
        <p:nvSpPr>
          <p:cNvPr id="4" name="Dikdörtgen 3">
            <a:extLst>
              <a:ext uri="{FF2B5EF4-FFF2-40B4-BE49-F238E27FC236}">
                <a16:creationId xmlns:a16="http://schemas.microsoft.com/office/drawing/2014/main" id="{B12A52D4-FE18-9779-0EFC-09B8CE0B01DC}"/>
              </a:ext>
            </a:extLst>
          </p:cNvPr>
          <p:cNvSpPr/>
          <p:nvPr/>
        </p:nvSpPr>
        <p:spPr>
          <a:xfrm>
            <a:off x="239903" y="213249"/>
            <a:ext cx="3656770"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tr-TR" sz="5400" b="1" cap="none" spc="0" dirty="0">
                <a:ln/>
                <a:solidFill>
                  <a:schemeClr val="accent3"/>
                </a:solidFill>
                <a:effectLst/>
              </a:rPr>
              <a:t>Artı Yönler:</a:t>
            </a:r>
          </a:p>
        </p:txBody>
      </p:sp>
      <p:sp>
        <p:nvSpPr>
          <p:cNvPr id="6" name="Metin kutusu 5">
            <a:extLst>
              <a:ext uri="{FF2B5EF4-FFF2-40B4-BE49-F238E27FC236}">
                <a16:creationId xmlns:a16="http://schemas.microsoft.com/office/drawing/2014/main" id="{2C7FE08C-E62A-8BC7-D371-83C0842452D3}"/>
              </a:ext>
            </a:extLst>
          </p:cNvPr>
          <p:cNvSpPr txBox="1"/>
          <p:nvPr/>
        </p:nvSpPr>
        <p:spPr>
          <a:xfrm>
            <a:off x="239903" y="1275458"/>
            <a:ext cx="8625181" cy="830997"/>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-Basit cisimleri algılamakta yüksek güven skoru bulunuyor. Arka planları basit tuttuğum sürece çoğu türü doğru sınıflandırıyor.</a:t>
            </a:r>
          </a:p>
        </p:txBody>
      </p:sp>
      <p:sp>
        <p:nvSpPr>
          <p:cNvPr id="7" name="Metin kutusu 6">
            <a:extLst>
              <a:ext uri="{FF2B5EF4-FFF2-40B4-BE49-F238E27FC236}">
                <a16:creationId xmlns:a16="http://schemas.microsoft.com/office/drawing/2014/main" id="{4C0E1530-A31B-8E47-75C0-CC9F2A98D945}"/>
              </a:ext>
            </a:extLst>
          </p:cNvPr>
          <p:cNvSpPr txBox="1"/>
          <p:nvPr/>
        </p:nvSpPr>
        <p:spPr>
          <a:xfrm>
            <a:off x="239899" y="2138444"/>
            <a:ext cx="8625181" cy="830997"/>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-MobileNetV2 kullanıldığından dolayı kamera kasmıyor görüntü alırken saniyelik olarak aktarılıyor.</a:t>
            </a:r>
          </a:p>
        </p:txBody>
      </p:sp>
      <p:sp>
        <p:nvSpPr>
          <p:cNvPr id="9" name="Metin kutusu 8">
            <a:extLst>
              <a:ext uri="{FF2B5EF4-FFF2-40B4-BE49-F238E27FC236}">
                <a16:creationId xmlns:a16="http://schemas.microsoft.com/office/drawing/2014/main" id="{A31E95A4-9038-FA3E-5329-ACD1CA3477CB}"/>
              </a:ext>
            </a:extLst>
          </p:cNvPr>
          <p:cNvSpPr txBox="1"/>
          <p:nvPr/>
        </p:nvSpPr>
        <p:spPr>
          <a:xfrm>
            <a:off x="239898" y="3075663"/>
            <a:ext cx="8625181" cy="830997"/>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a:t>
            </a:r>
            <a:r>
              <a:rPr lang="tr-TR" sz="2400" dirty="0" err="1">
                <a:latin typeface="Times New Roman" panose="02020603050405020304" pitchFamily="18" charset="0"/>
                <a:cs typeface="Times New Roman" panose="02020603050405020304" pitchFamily="18" charset="0"/>
              </a:rPr>
              <a:t>Streamlit</a:t>
            </a:r>
            <a:r>
              <a:rPr lang="tr-TR" sz="2400" dirty="0">
                <a:latin typeface="Times New Roman" panose="02020603050405020304" pitchFamily="18" charset="0"/>
                <a:cs typeface="Times New Roman" panose="02020603050405020304" pitchFamily="18" charset="0"/>
              </a:rPr>
              <a:t> sayesinde basit bir arayüzü var, tüneller sayesinde aynı ağa bağlı cihazlar basit portlarla arayüze bağlanabiliyor.</a:t>
            </a:r>
          </a:p>
        </p:txBody>
      </p:sp>
      <p:sp>
        <p:nvSpPr>
          <p:cNvPr id="10" name="Metin kutusu 9">
            <a:extLst>
              <a:ext uri="{FF2B5EF4-FFF2-40B4-BE49-F238E27FC236}">
                <a16:creationId xmlns:a16="http://schemas.microsoft.com/office/drawing/2014/main" id="{0B698ED2-DE25-CC09-511C-553BD13FAE2A}"/>
              </a:ext>
            </a:extLst>
          </p:cNvPr>
          <p:cNvSpPr txBox="1"/>
          <p:nvPr/>
        </p:nvSpPr>
        <p:spPr>
          <a:xfrm>
            <a:off x="239900" y="3888560"/>
            <a:ext cx="9818914" cy="1569660"/>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-Koddaki; </a:t>
            </a:r>
            <a:r>
              <a:rPr lang="tr-TR" sz="2400" dirty="0" err="1">
                <a:latin typeface="Times New Roman" panose="02020603050405020304" pitchFamily="18" charset="0"/>
                <a:cs typeface="Times New Roman" panose="02020603050405020304" pitchFamily="18" charset="0"/>
              </a:rPr>
              <a:t>RandomFlip</a:t>
            </a:r>
            <a:r>
              <a:rPr lang="tr-TR" sz="2400" dirty="0">
                <a:latin typeface="Times New Roman" panose="02020603050405020304" pitchFamily="18" charset="0"/>
                <a:cs typeface="Times New Roman" panose="02020603050405020304" pitchFamily="18" charset="0"/>
              </a:rPr>
              <a:t>, </a:t>
            </a:r>
            <a:r>
              <a:rPr lang="tr-TR" sz="2400" dirty="0" err="1">
                <a:latin typeface="Times New Roman" panose="02020603050405020304" pitchFamily="18" charset="0"/>
                <a:cs typeface="Times New Roman" panose="02020603050405020304" pitchFamily="18" charset="0"/>
              </a:rPr>
              <a:t>RandomRotation</a:t>
            </a:r>
            <a:r>
              <a:rPr lang="tr-TR" sz="2400" dirty="0">
                <a:latin typeface="Times New Roman" panose="02020603050405020304" pitchFamily="18" charset="0"/>
                <a:cs typeface="Times New Roman" panose="02020603050405020304" pitchFamily="18" charset="0"/>
              </a:rPr>
              <a:t> ve </a:t>
            </a:r>
            <a:r>
              <a:rPr lang="tr-TR" sz="2400" dirty="0" err="1">
                <a:latin typeface="Times New Roman" panose="02020603050405020304" pitchFamily="18" charset="0"/>
                <a:cs typeface="Times New Roman" panose="02020603050405020304" pitchFamily="18" charset="0"/>
              </a:rPr>
              <a:t>RandomZoom</a:t>
            </a:r>
            <a:r>
              <a:rPr lang="tr-TR" sz="2400" dirty="0">
                <a:latin typeface="Times New Roman" panose="02020603050405020304" pitchFamily="18" charset="0"/>
                <a:cs typeface="Times New Roman" panose="02020603050405020304" pitchFamily="18" charset="0"/>
              </a:rPr>
              <a:t> özellikleri sayesinde model fotoğrafları ezberlemez farklı açılardan görüntüyü alır ve değerlendirir, bu sayede eğitimdeki verilerin yanı sıra onların yakınlaştırılmış, farklı yönlere çevrilmiş açıları da bulunmakta.</a:t>
            </a:r>
          </a:p>
        </p:txBody>
      </p:sp>
      <p:sp>
        <p:nvSpPr>
          <p:cNvPr id="12" name="Metin kutusu 11">
            <a:extLst>
              <a:ext uri="{FF2B5EF4-FFF2-40B4-BE49-F238E27FC236}">
                <a16:creationId xmlns:a16="http://schemas.microsoft.com/office/drawing/2014/main" id="{960DCD78-54AB-9885-3BFA-A25E832EFA55}"/>
              </a:ext>
            </a:extLst>
          </p:cNvPr>
          <p:cNvSpPr txBox="1"/>
          <p:nvPr/>
        </p:nvSpPr>
        <p:spPr>
          <a:xfrm>
            <a:off x="239900" y="5458220"/>
            <a:ext cx="9818914" cy="830997"/>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-Önceki taramalar kaydedildiğinden dolayı daha sonra eğitimde kullanılabilir ve ya doğruluk oranları karşılaştırılarak modelin verimliliği öğrenilebilir.</a:t>
            </a:r>
          </a:p>
        </p:txBody>
      </p:sp>
    </p:spTree>
    <p:extLst>
      <p:ext uri="{BB962C8B-B14F-4D97-AF65-F5344CB8AC3E}">
        <p14:creationId xmlns:p14="http://schemas.microsoft.com/office/powerpoint/2010/main" val="301974007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35AFC706-794D-8A8B-CC3F-D6E696DBF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098959" cy="6858000"/>
          </a:xfrm>
          <a:prstGeom prst="rect">
            <a:avLst/>
          </a:prstGeom>
        </p:spPr>
      </p:pic>
      <p:sp>
        <p:nvSpPr>
          <p:cNvPr id="6" name="Metin kutusu 5">
            <a:extLst>
              <a:ext uri="{FF2B5EF4-FFF2-40B4-BE49-F238E27FC236}">
                <a16:creationId xmlns:a16="http://schemas.microsoft.com/office/drawing/2014/main" id="{F346F213-39D7-6190-FC7B-40BCAEAD4A3C}"/>
              </a:ext>
            </a:extLst>
          </p:cNvPr>
          <p:cNvSpPr txBox="1"/>
          <p:nvPr/>
        </p:nvSpPr>
        <p:spPr>
          <a:xfrm>
            <a:off x="3222171" y="222191"/>
            <a:ext cx="8109857" cy="2246769"/>
          </a:xfrm>
          <a:prstGeom prst="rect">
            <a:avLst/>
          </a:prstGeom>
          <a:noFill/>
        </p:spPr>
        <p:txBody>
          <a:bodyPr wrap="square" rtlCol="0">
            <a:spAutoFit/>
          </a:bodyPr>
          <a:lstStyle/>
          <a:p>
            <a:r>
              <a:rPr lang="tr-TR" sz="2800" dirty="0">
                <a:latin typeface="Times New Roman" panose="02020603050405020304" pitchFamily="18" charset="0"/>
                <a:cs typeface="Times New Roman" panose="02020603050405020304" pitchFamily="18" charset="0"/>
              </a:rPr>
              <a:t>-Daha kolay bir tarama için bilgisayarın web kamerasından telefona bir geçiş sağladım, ağ üzerinde tünel açıp oradan bağlandıktan sonra telefon kameramızla da arayüzü kullanabiliyoruz ve geçmiş taramalara da kaydı yapılıyor.</a:t>
            </a:r>
          </a:p>
        </p:txBody>
      </p:sp>
      <p:sp>
        <p:nvSpPr>
          <p:cNvPr id="7" name="Metin kutusu 6">
            <a:extLst>
              <a:ext uri="{FF2B5EF4-FFF2-40B4-BE49-F238E27FC236}">
                <a16:creationId xmlns:a16="http://schemas.microsoft.com/office/drawing/2014/main" id="{569E47E7-7117-5615-D443-583113308D9C}"/>
              </a:ext>
            </a:extLst>
          </p:cNvPr>
          <p:cNvSpPr txBox="1"/>
          <p:nvPr/>
        </p:nvSpPr>
        <p:spPr>
          <a:xfrm>
            <a:off x="3222171" y="2469351"/>
            <a:ext cx="6923314" cy="369332"/>
          </a:xfrm>
          <a:prstGeom prst="rect">
            <a:avLst/>
          </a:prstGeom>
          <a:noFill/>
        </p:spPr>
        <p:txBody>
          <a:bodyPr wrap="square" rtlCol="0">
            <a:spAutoFit/>
          </a:bodyPr>
          <a:lstStyle/>
          <a:p>
            <a:r>
              <a:rPr lang="pt-BR" dirty="0">
                <a:solidFill>
                  <a:srgbClr val="FF0000"/>
                </a:solidFill>
              </a:rPr>
              <a:t>ssh -R 80:127.0.0.1:8501 nokey@localhost.run</a:t>
            </a:r>
            <a:endParaRPr lang="tr-TR" dirty="0">
              <a:solidFill>
                <a:srgbClr val="FF0000"/>
              </a:solidFill>
            </a:endParaRPr>
          </a:p>
        </p:txBody>
      </p:sp>
    </p:spTree>
    <p:extLst>
      <p:ext uri="{BB962C8B-B14F-4D97-AF65-F5344CB8AC3E}">
        <p14:creationId xmlns:p14="http://schemas.microsoft.com/office/powerpoint/2010/main" val="216846622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7742A528-B5BC-48B8-92DE-9C2B44451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a:extLst>
              <a:ext uri="{FF2B5EF4-FFF2-40B4-BE49-F238E27FC236}">
                <a16:creationId xmlns:a16="http://schemas.microsoft.com/office/drawing/2014/main" id="{DFB93091-8D66-FEB8-2464-335C9F6B4141}"/>
              </a:ext>
            </a:extLst>
          </p:cNvPr>
          <p:cNvPicPr>
            <a:picLocks noChangeAspect="1"/>
          </p:cNvPicPr>
          <p:nvPr/>
        </p:nvPicPr>
        <p:blipFill>
          <a:blip r:embed="rId2">
            <a:extLst>
              <a:ext uri="{28A0092B-C50C-407E-A947-70E740481C1C}">
                <a14:useLocalDpi xmlns:a14="http://schemas.microsoft.com/office/drawing/2010/main" val="0"/>
              </a:ext>
            </a:extLst>
          </a:blip>
          <a:srcRect r="-1" b="969"/>
          <a:stretch>
            <a:fillRect/>
          </a:stretch>
        </p:blipFill>
        <p:spPr>
          <a:xfrm>
            <a:off x="909147" y="790051"/>
            <a:ext cx="9459306" cy="5854700"/>
          </a:xfrm>
          <a:custGeom>
            <a:avLst/>
            <a:gdLst/>
            <a:ahLst/>
            <a:cxnLst/>
            <a:rect l="l" t="t" r="r" b="b"/>
            <a:pathLst>
              <a:path w="8500451" h="5783926">
                <a:moveTo>
                  <a:pt x="4814568" y="604"/>
                </a:moveTo>
                <a:cubicBezTo>
                  <a:pt x="5041344" y="3294"/>
                  <a:pt x="5267019" y="14348"/>
                  <a:pt x="5493575" y="21000"/>
                </a:cubicBezTo>
                <a:cubicBezTo>
                  <a:pt x="5987120" y="36130"/>
                  <a:pt x="6483273" y="35607"/>
                  <a:pt x="6977859" y="46564"/>
                </a:cubicBezTo>
                <a:cubicBezTo>
                  <a:pt x="7286195" y="53346"/>
                  <a:pt x="7590877" y="77867"/>
                  <a:pt x="7880953" y="154038"/>
                </a:cubicBezTo>
                <a:cubicBezTo>
                  <a:pt x="7921646" y="164993"/>
                  <a:pt x="7967557" y="167081"/>
                  <a:pt x="7998861" y="193166"/>
                </a:cubicBezTo>
                <a:cubicBezTo>
                  <a:pt x="8033815" y="222382"/>
                  <a:pt x="8019729" y="265163"/>
                  <a:pt x="7968600" y="273511"/>
                </a:cubicBezTo>
                <a:cubicBezTo>
                  <a:pt x="7903386" y="284466"/>
                  <a:pt x="7836607" y="287597"/>
                  <a:pt x="7764609" y="294901"/>
                </a:cubicBezTo>
                <a:cubicBezTo>
                  <a:pt x="7792260" y="335073"/>
                  <a:pt x="7859040" y="304814"/>
                  <a:pt x="7876257" y="354899"/>
                </a:cubicBezTo>
                <a:cubicBezTo>
                  <a:pt x="7799043" y="389332"/>
                  <a:pt x="7705656" y="366898"/>
                  <a:pt x="7631049" y="400810"/>
                </a:cubicBezTo>
                <a:cubicBezTo>
                  <a:pt x="7633137" y="424287"/>
                  <a:pt x="7649831" y="426374"/>
                  <a:pt x="7663396" y="432635"/>
                </a:cubicBezTo>
                <a:cubicBezTo>
                  <a:pt x="7676961" y="438373"/>
                  <a:pt x="7710871" y="430026"/>
                  <a:pt x="7696264" y="462894"/>
                </a:cubicBezTo>
                <a:cubicBezTo>
                  <a:pt x="7541315" y="482719"/>
                  <a:pt x="7393147" y="550021"/>
                  <a:pt x="7229849" y="540630"/>
                </a:cubicBezTo>
                <a:cubicBezTo>
                  <a:pt x="7431755" y="558890"/>
                  <a:pt x="7602355" y="633496"/>
                  <a:pt x="7780782" y="683059"/>
                </a:cubicBezTo>
                <a:cubicBezTo>
                  <a:pt x="7773479" y="741491"/>
                  <a:pt x="7701483" y="718014"/>
                  <a:pt x="7680613" y="759751"/>
                </a:cubicBezTo>
                <a:cubicBezTo>
                  <a:pt x="7794869" y="788967"/>
                  <a:pt x="7904429" y="823401"/>
                  <a:pt x="7998861" y="880789"/>
                </a:cubicBezTo>
                <a:cubicBezTo>
                  <a:pt x="8083901" y="932439"/>
                  <a:pt x="8164765" y="989306"/>
                  <a:pt x="8257111" y="1031566"/>
                </a:cubicBezTo>
                <a:cubicBezTo>
                  <a:pt x="8354150" y="1075912"/>
                  <a:pt x="8413103" y="1132779"/>
                  <a:pt x="8402148" y="1229819"/>
                </a:cubicBezTo>
                <a:cubicBezTo>
                  <a:pt x="8397452" y="1269468"/>
                  <a:pt x="8409973" y="1302859"/>
                  <a:pt x="8453275" y="1318510"/>
                </a:cubicBezTo>
                <a:cubicBezTo>
                  <a:pt x="8507013" y="1337814"/>
                  <a:pt x="8501275" y="1367029"/>
                  <a:pt x="8499187" y="1411897"/>
                </a:cubicBezTo>
                <a:cubicBezTo>
                  <a:pt x="8496056" y="1465634"/>
                  <a:pt x="8468406" y="1486504"/>
                  <a:pt x="8419885" y="1504764"/>
                </a:cubicBezTo>
                <a:cubicBezTo>
                  <a:pt x="8350497" y="1530327"/>
                  <a:pt x="8349975" y="1569978"/>
                  <a:pt x="8368237" y="1617454"/>
                </a:cubicBezTo>
                <a:cubicBezTo>
                  <a:pt x="8378149" y="1643540"/>
                  <a:pt x="8393278" y="1664409"/>
                  <a:pt x="8415713" y="1683712"/>
                </a:cubicBezTo>
                <a:cubicBezTo>
                  <a:pt x="8493448" y="1751014"/>
                  <a:pt x="8492927" y="1752056"/>
                  <a:pt x="8416755" y="1831880"/>
                </a:cubicBezTo>
                <a:cubicBezTo>
                  <a:pt x="8396408" y="1853269"/>
                  <a:pt x="8374496" y="1867356"/>
                  <a:pt x="8383888" y="1901790"/>
                </a:cubicBezTo>
                <a:cubicBezTo>
                  <a:pt x="8415713" y="2016046"/>
                  <a:pt x="8411538" y="2016046"/>
                  <a:pt x="8283717" y="2053609"/>
                </a:cubicBezTo>
                <a:cubicBezTo>
                  <a:pt x="8254501" y="2062479"/>
                  <a:pt x="8215373" y="2054653"/>
                  <a:pt x="8198678" y="2087521"/>
                </a:cubicBezTo>
                <a:cubicBezTo>
                  <a:pt x="8209113" y="2111521"/>
                  <a:pt x="8184591" y="2690625"/>
                  <a:pt x="8207547" y="2700017"/>
                </a:cubicBezTo>
                <a:cubicBezTo>
                  <a:pt x="8387017" y="2773578"/>
                  <a:pt x="8409451" y="2860184"/>
                  <a:pt x="8269632" y="2996352"/>
                </a:cubicBezTo>
                <a:cubicBezTo>
                  <a:pt x="8175722" y="3087653"/>
                  <a:pt x="8186677" y="3236864"/>
                  <a:pt x="8225807" y="3330251"/>
                </a:cubicBezTo>
                <a:cubicBezTo>
                  <a:pt x="8373452" y="3371467"/>
                  <a:pt x="8341107" y="3481027"/>
                  <a:pt x="8370845" y="3577023"/>
                </a:cubicBezTo>
                <a:cubicBezTo>
                  <a:pt x="8392757" y="3649020"/>
                  <a:pt x="8306673" y="3639107"/>
                  <a:pt x="8310847" y="3671976"/>
                </a:cubicBezTo>
                <a:cubicBezTo>
                  <a:pt x="8365105" y="3711626"/>
                  <a:pt x="8437624" y="3724148"/>
                  <a:pt x="8479884" y="3778406"/>
                </a:cubicBezTo>
                <a:cubicBezTo>
                  <a:pt x="8403713" y="3818056"/>
                  <a:pt x="8365105" y="3873880"/>
                  <a:pt x="8322845" y="3929703"/>
                </a:cubicBezTo>
                <a:cubicBezTo>
                  <a:pt x="8254501" y="4020482"/>
                  <a:pt x="8161635" y="4097174"/>
                  <a:pt x="8063031" y="4166563"/>
                </a:cubicBezTo>
                <a:cubicBezTo>
                  <a:pt x="8012947" y="4649674"/>
                  <a:pt x="7851215" y="5156783"/>
                  <a:pt x="7833475" y="5181825"/>
                </a:cubicBezTo>
                <a:cubicBezTo>
                  <a:pt x="7760436" y="5174520"/>
                  <a:pt x="7618528" y="5466682"/>
                  <a:pt x="7495403" y="5493812"/>
                </a:cubicBezTo>
                <a:cubicBezTo>
                  <a:pt x="7366017" y="5523550"/>
                  <a:pt x="5441925" y="5797973"/>
                  <a:pt x="5148199" y="5783364"/>
                </a:cubicBezTo>
                <a:cubicBezTo>
                  <a:pt x="3551743" y="5705628"/>
                  <a:pt x="3505310" y="5598155"/>
                  <a:pt x="3505310" y="5598155"/>
                </a:cubicBezTo>
                <a:cubicBezTo>
                  <a:pt x="3505310" y="5598155"/>
                  <a:pt x="3596089" y="5571548"/>
                  <a:pt x="3675390" y="5541287"/>
                </a:cubicBezTo>
                <a:cubicBezTo>
                  <a:pt x="3627392" y="5542853"/>
                  <a:pt x="3579395" y="5543896"/>
                  <a:pt x="3531919" y="5542331"/>
                </a:cubicBezTo>
                <a:cubicBezTo>
                  <a:pt x="3164108" y="5531375"/>
                  <a:pt x="3500093" y="5511028"/>
                  <a:pt x="3138022" y="5469291"/>
                </a:cubicBezTo>
                <a:cubicBezTo>
                  <a:pt x="2527092" y="5398860"/>
                  <a:pt x="2618913" y="5380598"/>
                  <a:pt x="2058068" y="5181825"/>
                </a:cubicBezTo>
                <a:cubicBezTo>
                  <a:pt x="2008504" y="5164086"/>
                  <a:pt x="1660519" y="5056613"/>
                  <a:pt x="1447659" y="5044613"/>
                </a:cubicBezTo>
                <a:cubicBezTo>
                  <a:pt x="1391313" y="5041483"/>
                  <a:pt x="1329751" y="5042527"/>
                  <a:pt x="1281230" y="4977311"/>
                </a:cubicBezTo>
                <a:cubicBezTo>
                  <a:pt x="1429920" y="4979399"/>
                  <a:pt x="1557741" y="4979399"/>
                  <a:pt x="1696518" y="4945487"/>
                </a:cubicBezTo>
                <a:cubicBezTo>
                  <a:pt x="1622434" y="4898532"/>
                  <a:pt x="1537394" y="4938705"/>
                  <a:pt x="1478440" y="4905836"/>
                </a:cubicBezTo>
                <a:cubicBezTo>
                  <a:pt x="1423138" y="4875577"/>
                  <a:pt x="1375140" y="4871404"/>
                  <a:pt x="1318795" y="4919401"/>
                </a:cubicBezTo>
                <a:cubicBezTo>
                  <a:pt x="1289578" y="4944443"/>
                  <a:pt x="1237928" y="4939747"/>
                  <a:pt x="1208190" y="4925140"/>
                </a:cubicBezTo>
                <a:cubicBezTo>
                  <a:pt x="1049066" y="4846360"/>
                  <a:pt x="1052718" y="4847404"/>
                  <a:pt x="875857" y="4867751"/>
                </a:cubicBezTo>
                <a:cubicBezTo>
                  <a:pt x="763166" y="4880272"/>
                  <a:pt x="648388" y="4902706"/>
                  <a:pt x="545088" y="4889141"/>
                </a:cubicBezTo>
                <a:cubicBezTo>
                  <a:pt x="532045" y="4859403"/>
                  <a:pt x="543522" y="4845839"/>
                  <a:pt x="558131" y="4841666"/>
                </a:cubicBezTo>
                <a:cubicBezTo>
                  <a:pt x="796034" y="4776973"/>
                  <a:pt x="840379" y="4702889"/>
                  <a:pt x="1081413" y="4662717"/>
                </a:cubicBezTo>
                <a:cubicBezTo>
                  <a:pt x="1099151" y="4617327"/>
                  <a:pt x="1011503" y="4609500"/>
                  <a:pt x="1052718" y="4564633"/>
                </a:cubicBezTo>
                <a:cubicBezTo>
                  <a:pt x="1127846" y="4529678"/>
                  <a:pt x="1216016" y="4570894"/>
                  <a:pt x="1290622" y="4525505"/>
                </a:cubicBezTo>
                <a:cubicBezTo>
                  <a:pt x="1277579" y="4493158"/>
                  <a:pt x="1214972" y="4516636"/>
                  <a:pt x="1217581" y="4482202"/>
                </a:cubicBezTo>
                <a:cubicBezTo>
                  <a:pt x="1220712" y="4442552"/>
                  <a:pt x="1264536" y="4448813"/>
                  <a:pt x="1294796" y="4451421"/>
                </a:cubicBezTo>
                <a:cubicBezTo>
                  <a:pt x="1441398" y="4464985"/>
                  <a:pt x="1568696" y="4390902"/>
                  <a:pt x="1709040" y="4365860"/>
                </a:cubicBezTo>
                <a:cubicBezTo>
                  <a:pt x="1559306" y="4303253"/>
                  <a:pt x="686474" y="4353338"/>
                  <a:pt x="530479" y="4334034"/>
                </a:cubicBezTo>
                <a:cubicBezTo>
                  <a:pt x="367182" y="4314210"/>
                  <a:pt x="107367" y="4261516"/>
                  <a:pt x="174146" y="4244821"/>
                </a:cubicBezTo>
                <a:cubicBezTo>
                  <a:pt x="249796" y="4225518"/>
                  <a:pt x="519524" y="3996484"/>
                  <a:pt x="596216" y="3986050"/>
                </a:cubicBezTo>
                <a:cubicBezTo>
                  <a:pt x="685430" y="3974050"/>
                  <a:pt x="703169" y="3957876"/>
                  <a:pt x="820554" y="3875967"/>
                </a:cubicBezTo>
                <a:cubicBezTo>
                  <a:pt x="897769" y="3822230"/>
                  <a:pt x="576391" y="3939094"/>
                  <a:pt x="451179" y="3901009"/>
                </a:cubicBezTo>
                <a:cubicBezTo>
                  <a:pt x="405268" y="3886923"/>
                  <a:pt x="729255" y="3738233"/>
                  <a:pt x="729255" y="3711105"/>
                </a:cubicBezTo>
                <a:cubicBezTo>
                  <a:pt x="729255" y="3682409"/>
                  <a:pt x="700038" y="3676150"/>
                  <a:pt x="672387" y="3676150"/>
                </a:cubicBezTo>
                <a:cubicBezTo>
                  <a:pt x="610824" y="3676150"/>
                  <a:pt x="629606" y="3651106"/>
                  <a:pt x="568043" y="3652673"/>
                </a:cubicBezTo>
                <a:cubicBezTo>
                  <a:pt x="748558" y="3580154"/>
                  <a:pt x="860205" y="3599458"/>
                  <a:pt x="1038632" y="3533198"/>
                </a:cubicBezTo>
                <a:cubicBezTo>
                  <a:pt x="1125760" y="3500852"/>
                  <a:pt x="817425" y="3393378"/>
                  <a:pt x="907160" y="3365206"/>
                </a:cubicBezTo>
                <a:cubicBezTo>
                  <a:pt x="941071" y="3354249"/>
                  <a:pt x="986461" y="3365727"/>
                  <a:pt x="1009938" y="3327120"/>
                </a:cubicBezTo>
                <a:cubicBezTo>
                  <a:pt x="972897" y="3296340"/>
                  <a:pt x="923855" y="3309904"/>
                  <a:pt x="886812" y="3322425"/>
                </a:cubicBezTo>
                <a:cubicBezTo>
                  <a:pt x="792381" y="3354772"/>
                  <a:pt x="799165" y="3346946"/>
                  <a:pt x="789773" y="3322947"/>
                </a:cubicBezTo>
                <a:cubicBezTo>
                  <a:pt x="758993" y="3241037"/>
                  <a:pt x="682822" y="3267123"/>
                  <a:pt x="615520" y="3280688"/>
                </a:cubicBezTo>
                <a:cubicBezTo>
                  <a:pt x="412050" y="3321382"/>
                  <a:pt x="205972" y="3309904"/>
                  <a:pt x="3023" y="3351641"/>
                </a:cubicBezTo>
                <a:cubicBezTo>
                  <a:pt x="-18888" y="3356337"/>
                  <a:pt x="83890" y="3262949"/>
                  <a:pt x="132409" y="3251993"/>
                </a:cubicBezTo>
                <a:cubicBezTo>
                  <a:pt x="185103" y="3240516"/>
                  <a:pt x="249796" y="3248863"/>
                  <a:pt x="287360" y="3195127"/>
                </a:cubicBezTo>
                <a:cubicBezTo>
                  <a:pt x="220579" y="3181561"/>
                  <a:pt x="144410" y="3207647"/>
                  <a:pt x="78150" y="3164866"/>
                </a:cubicBezTo>
                <a:cubicBezTo>
                  <a:pt x="225276" y="3105913"/>
                  <a:pt x="371878" y="3107999"/>
                  <a:pt x="498655" y="3069914"/>
                </a:cubicBezTo>
                <a:cubicBezTo>
                  <a:pt x="510133" y="2999483"/>
                  <a:pt x="426658" y="3025046"/>
                  <a:pt x="396399" y="2984874"/>
                </a:cubicBezTo>
                <a:cubicBezTo>
                  <a:pt x="1351140" y="2916007"/>
                  <a:pt x="817946" y="2712537"/>
                  <a:pt x="658822" y="2601411"/>
                </a:cubicBezTo>
                <a:cubicBezTo>
                  <a:pt x="605607" y="2564370"/>
                  <a:pt x="1164888" y="2388551"/>
                  <a:pt x="1183148" y="2383856"/>
                </a:cubicBezTo>
                <a:cubicBezTo>
                  <a:pt x="1229581" y="2372900"/>
                  <a:pt x="1413747" y="2380725"/>
                  <a:pt x="1451311" y="2366639"/>
                </a:cubicBezTo>
                <a:cubicBezTo>
                  <a:pt x="1499309" y="2348901"/>
                  <a:pt x="1340706" y="2318120"/>
                  <a:pt x="1376184" y="2296729"/>
                </a:cubicBezTo>
                <a:cubicBezTo>
                  <a:pt x="1625043" y="2145953"/>
                  <a:pt x="1642780" y="1919006"/>
                  <a:pt x="1572870" y="1902834"/>
                </a:cubicBezTo>
                <a:cubicBezTo>
                  <a:pt x="1500353" y="1886138"/>
                  <a:pt x="1429399" y="1899181"/>
                  <a:pt x="1362097" y="1926311"/>
                </a:cubicBezTo>
                <a:cubicBezTo>
                  <a:pt x="1252536" y="1970656"/>
                  <a:pt x="493960" y="1907528"/>
                  <a:pt x="281620" y="1943006"/>
                </a:cubicBezTo>
                <a:cubicBezTo>
                  <a:pt x="249274" y="1948223"/>
                  <a:pt x="205451" y="1971700"/>
                  <a:pt x="174669" y="1927876"/>
                </a:cubicBezTo>
                <a:cubicBezTo>
                  <a:pt x="393269" y="1785969"/>
                  <a:pt x="673952" y="1826663"/>
                  <a:pt x="918115" y="1730145"/>
                </a:cubicBezTo>
                <a:cubicBezTo>
                  <a:pt x="822119" y="1663886"/>
                  <a:pt x="724558" y="1667017"/>
                  <a:pt x="624389" y="1676929"/>
                </a:cubicBezTo>
                <a:cubicBezTo>
                  <a:pt x="598304" y="1679538"/>
                  <a:pt x="562826" y="1683190"/>
                  <a:pt x="556565" y="1655539"/>
                </a:cubicBezTo>
                <a:cubicBezTo>
                  <a:pt x="548739" y="1620584"/>
                  <a:pt x="590999" y="1614323"/>
                  <a:pt x="618650" y="1600237"/>
                </a:cubicBezTo>
                <a:cubicBezTo>
                  <a:pt x="660909" y="1578325"/>
                  <a:pt x="723515" y="1604410"/>
                  <a:pt x="775165" y="1544413"/>
                </a:cubicBezTo>
                <a:cubicBezTo>
                  <a:pt x="618650" y="1558500"/>
                  <a:pt x="486656" y="1583021"/>
                  <a:pt x="348401" y="1624758"/>
                </a:cubicBezTo>
                <a:cubicBezTo>
                  <a:pt x="360400" y="1587717"/>
                  <a:pt x="402137" y="1570499"/>
                  <a:pt x="378660" y="1539719"/>
                </a:cubicBezTo>
                <a:cubicBezTo>
                  <a:pt x="360922" y="1516763"/>
                  <a:pt x="310316" y="1505806"/>
                  <a:pt x="336402" y="1463025"/>
                </a:cubicBezTo>
                <a:cubicBezTo>
                  <a:pt x="409963" y="1417636"/>
                  <a:pt x="514307" y="1429636"/>
                  <a:pt x="576913" y="1364421"/>
                </a:cubicBezTo>
                <a:cubicBezTo>
                  <a:pt x="665605" y="1271556"/>
                  <a:pt x="803338" y="1239731"/>
                  <a:pt x="911856" y="1171908"/>
                </a:cubicBezTo>
                <a:cubicBezTo>
                  <a:pt x="947853" y="1149995"/>
                  <a:pt x="1184192" y="1073303"/>
                  <a:pt x="1247841" y="1048782"/>
                </a:cubicBezTo>
                <a:cubicBezTo>
                  <a:pt x="1336532" y="1014349"/>
                  <a:pt x="1437746" y="1002349"/>
                  <a:pt x="1524872" y="939221"/>
                </a:cubicBezTo>
                <a:cubicBezTo>
                  <a:pt x="1439310" y="926178"/>
                  <a:pt x="1369923" y="985133"/>
                  <a:pt x="1267145" y="956439"/>
                </a:cubicBezTo>
                <a:cubicBezTo>
                  <a:pt x="1429920" y="895398"/>
                  <a:pt x="1579131" y="867746"/>
                  <a:pt x="1697039" y="783749"/>
                </a:cubicBezTo>
                <a:cubicBezTo>
                  <a:pt x="1711648" y="773315"/>
                  <a:pt x="1740342" y="776446"/>
                  <a:pt x="1762255" y="772794"/>
                </a:cubicBezTo>
                <a:cubicBezTo>
                  <a:pt x="1992852" y="735752"/>
                  <a:pt x="2224495" y="704449"/>
                  <a:pt x="2452486" y="650712"/>
                </a:cubicBezTo>
                <a:cubicBezTo>
                  <a:pt x="2504136" y="638191"/>
                  <a:pt x="2595436" y="635061"/>
                  <a:pt x="2586045" y="590193"/>
                </a:cubicBezTo>
                <a:cubicBezTo>
                  <a:pt x="2571959" y="522891"/>
                  <a:pt x="2486919" y="570889"/>
                  <a:pt x="2432138" y="577150"/>
                </a:cubicBezTo>
                <a:cubicBezTo>
                  <a:pt x="2262059" y="597497"/>
                  <a:pt x="2091979" y="632974"/>
                  <a:pt x="1919291" y="613149"/>
                </a:cubicBezTo>
                <a:cubicBezTo>
                  <a:pt x="2035633" y="588107"/>
                  <a:pt x="2151455" y="562542"/>
                  <a:pt x="2267799" y="537499"/>
                </a:cubicBezTo>
                <a:cubicBezTo>
                  <a:pt x="2134238" y="546368"/>
                  <a:pt x="2017896" y="487936"/>
                  <a:pt x="1887988" y="514022"/>
                </a:cubicBezTo>
                <a:cubicBezTo>
                  <a:pt x="1846250" y="522370"/>
                  <a:pt x="1802427" y="495762"/>
                  <a:pt x="1798252" y="454546"/>
                </a:cubicBezTo>
                <a:cubicBezTo>
                  <a:pt x="1793557" y="421678"/>
                  <a:pt x="1832686" y="407071"/>
                  <a:pt x="1862424" y="396636"/>
                </a:cubicBezTo>
                <a:cubicBezTo>
                  <a:pt x="1938595" y="370028"/>
                  <a:pt x="1999113" y="291250"/>
                  <a:pt x="2096675" y="332987"/>
                </a:cubicBezTo>
                <a:cubicBezTo>
                  <a:pt x="2158237" y="267250"/>
                  <a:pt x="2256320" y="256816"/>
                  <a:pt x="2335621" y="239600"/>
                </a:cubicBezTo>
                <a:cubicBezTo>
                  <a:pt x="2588654" y="185341"/>
                  <a:pt x="2845338" y="143081"/>
                  <a:pt x="3102023" y="107082"/>
                </a:cubicBezTo>
                <a:cubicBezTo>
                  <a:pt x="3270538" y="83605"/>
                  <a:pt x="3444270" y="93518"/>
                  <a:pt x="3611219" y="63780"/>
                </a:cubicBezTo>
                <a:cubicBezTo>
                  <a:pt x="3937814" y="5869"/>
                  <a:pt x="4262322" y="7436"/>
                  <a:pt x="4587352" y="1175"/>
                </a:cubicBezTo>
                <a:cubicBezTo>
                  <a:pt x="4663262" y="-260"/>
                  <a:pt x="4738976" y="-293"/>
                  <a:pt x="4814568" y="604"/>
                </a:cubicBezTo>
                <a:close/>
              </a:path>
            </a:pathLst>
          </a:custGeom>
        </p:spPr>
      </p:pic>
      <p:sp>
        <p:nvSpPr>
          <p:cNvPr id="6" name="Dikdörtgen 5">
            <a:extLst>
              <a:ext uri="{FF2B5EF4-FFF2-40B4-BE49-F238E27FC236}">
                <a16:creationId xmlns:a16="http://schemas.microsoft.com/office/drawing/2014/main" id="{DBAB8795-C8D9-72A2-5890-AE15305B39C9}"/>
              </a:ext>
            </a:extLst>
          </p:cNvPr>
          <p:cNvSpPr/>
          <p:nvPr/>
        </p:nvSpPr>
        <p:spPr>
          <a:xfrm>
            <a:off x="909147" y="644719"/>
            <a:ext cx="10097637" cy="1200329"/>
          </a:xfrm>
          <a:prstGeom prst="rect">
            <a:avLst/>
          </a:prstGeom>
          <a:noFill/>
        </p:spPr>
        <p:txBody>
          <a:bodyPr wrap="none" lIns="91440" tIns="45720" rIns="91440" bIns="45720">
            <a:spAutoFit/>
          </a:bodyPr>
          <a:lstStyle/>
          <a:p>
            <a:pPr algn="ctr"/>
            <a:r>
              <a:rPr lang="tr-TR" sz="7200" b="0" cap="none" spc="0" dirty="0">
                <a:ln w="0"/>
                <a:solidFill>
                  <a:schemeClr val="tx1"/>
                </a:solidFill>
                <a:effectLst>
                  <a:outerShdw blurRad="38100" dist="19050" dir="2700000" algn="tl" rotWithShape="0">
                    <a:schemeClr val="dk1">
                      <a:alpha val="40000"/>
                    </a:schemeClr>
                  </a:outerShdw>
                </a:effectLst>
              </a:rPr>
              <a:t>Atık Sınıflandırma Projesi</a:t>
            </a:r>
          </a:p>
        </p:txBody>
      </p:sp>
      <p:sp>
        <p:nvSpPr>
          <p:cNvPr id="7" name="Dikdörtgen 6">
            <a:extLst>
              <a:ext uri="{FF2B5EF4-FFF2-40B4-BE49-F238E27FC236}">
                <a16:creationId xmlns:a16="http://schemas.microsoft.com/office/drawing/2014/main" id="{F13D21E6-D902-6F27-C306-8CDC36E75E25}"/>
              </a:ext>
            </a:extLst>
          </p:cNvPr>
          <p:cNvSpPr/>
          <p:nvPr/>
        </p:nvSpPr>
        <p:spPr>
          <a:xfrm>
            <a:off x="158235" y="4890425"/>
            <a:ext cx="4257897" cy="1754326"/>
          </a:xfrm>
          <a:prstGeom prst="rect">
            <a:avLst/>
          </a:prstGeom>
          <a:noFill/>
        </p:spPr>
        <p:txBody>
          <a:bodyPr wrap="none" lIns="91440" tIns="45720" rIns="91440" bIns="45720">
            <a:spAutoFit/>
          </a:bodyPr>
          <a:lstStyle/>
          <a:p>
            <a:r>
              <a:rPr lang="tr-TR" sz="5400" b="0" cap="none" spc="0" dirty="0">
                <a:ln w="0"/>
                <a:solidFill>
                  <a:schemeClr val="tx1"/>
                </a:solidFill>
                <a:effectLst>
                  <a:outerShdw blurRad="38100" dist="19050" dir="2700000" algn="tl" rotWithShape="0">
                    <a:schemeClr val="dk1">
                      <a:alpha val="40000"/>
                    </a:schemeClr>
                  </a:outerShdw>
                </a:effectLst>
              </a:rPr>
              <a:t>Tuna Duman</a:t>
            </a:r>
          </a:p>
          <a:p>
            <a:r>
              <a:rPr lang="tr-TR" sz="5400" dirty="0">
                <a:ln w="0"/>
                <a:effectLst>
                  <a:outerShdw blurRad="38100" dist="19050" dir="2700000" algn="tl" rotWithShape="0">
                    <a:schemeClr val="dk1">
                      <a:alpha val="40000"/>
                    </a:schemeClr>
                  </a:outerShdw>
                </a:effectLst>
              </a:rPr>
              <a:t>90240000223</a:t>
            </a:r>
            <a:endParaRPr lang="tr-TR"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91025421"/>
      </p:ext>
    </p:extLst>
  </p:cSld>
  <p:clrMapOvr>
    <a:masterClrMapping/>
  </p:clrMapOvr>
  <p:transition spd="slow">
    <p:push dir="u"/>
  </p:transition>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659</Words>
  <Application>Microsoft Office PowerPoint</Application>
  <PresentationFormat>Geniş ekran</PresentationFormat>
  <Paragraphs>34</Paragraphs>
  <Slides>10</Slides>
  <Notes>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10</vt:i4>
      </vt:variant>
    </vt:vector>
  </HeadingPairs>
  <TitlesOfParts>
    <vt:vector size="15" baseType="lpstr">
      <vt:lpstr>Aptos</vt:lpstr>
      <vt:lpstr>Aptos Display</vt:lpstr>
      <vt:lpstr>Arial</vt:lpstr>
      <vt:lpstr>Times New Roman</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Tuna Duman</dc:creator>
  <cp:lastModifiedBy>Tuna Duman</cp:lastModifiedBy>
  <cp:revision>18</cp:revision>
  <dcterms:created xsi:type="dcterms:W3CDTF">2026-06-08T06:41:07Z</dcterms:created>
  <dcterms:modified xsi:type="dcterms:W3CDTF">2026-06-08T08:05:51Z</dcterms:modified>
</cp:coreProperties>
</file>